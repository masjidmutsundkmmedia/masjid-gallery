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3"/>
  </p:notesMasterIdLst>
  <p:sldIdLst>
    <p:sldId id="256" r:id="rId5"/>
    <p:sldId id="262" r:id="rId6"/>
    <p:sldId id="257" r:id="rId7"/>
    <p:sldId id="264" r:id="rId8"/>
    <p:sldId id="265" r:id="rId9"/>
    <p:sldId id="266" r:id="rId10"/>
    <p:sldId id="267"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Impress, Work Together" id="{B9B51309-D148-4332-87C2-07BE32FBCA3B}">
          <p14:sldIdLst>
            <p14:sldId id="262"/>
            <p14:sldId id="257"/>
            <p14:sldId id="264"/>
            <p14:sldId id="265"/>
            <p14:sldId id="266"/>
            <p14:sldId id="267"/>
            <p14:sldId id="269"/>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B4A6"/>
    <a:srgbClr val="734F29"/>
    <a:srgbClr val="D24726"/>
    <a:srgbClr val="DD462F"/>
    <a:srgbClr val="AEB785"/>
    <a:srgbClr val="EFD5A2"/>
    <a:srgbClr val="3B3026"/>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59" autoAdjust="0"/>
    <p:restoredTop sz="94280" autoAdjust="0"/>
  </p:normalViewPr>
  <p:slideViewPr>
    <p:cSldViewPr snapToGrid="0">
      <p:cViewPr varScale="1">
        <p:scale>
          <a:sx n="71" d="100"/>
          <a:sy n="71" d="100"/>
        </p:scale>
        <p:origin x="636"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8/3/2026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838200" y="2061006"/>
            <a:ext cx="10515600" cy="2387600"/>
          </a:xfrm>
        </p:spPr>
        <p:txBody>
          <a:bodyPr anchor="b">
            <a:normAutofit/>
          </a:bodyPr>
          <a:lstStyle>
            <a:lvl1pPr algn="l">
              <a:defRPr sz="54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38202" y="5110609"/>
            <a:ext cx="6705599" cy="1137793"/>
          </a:xfrm>
        </p:spPr>
        <p:txBody>
          <a:bodyPr>
            <a:normAutofit/>
          </a:bodyPr>
          <a:lstStyle>
            <a:lvl1pPr marL="0" indent="0" algn="l">
              <a:lnSpc>
                <a:spcPct val="150000"/>
              </a:lnSpc>
              <a:spcBef>
                <a:spcPts val="600"/>
              </a:spcBef>
              <a:buNone/>
              <a:defRPr sz="2800">
                <a:solidFill>
                  <a:srgbClr val="D247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BEEBAAA-29B5-4AF5-BC5F-7E580C29002D}"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4434" y="0"/>
            <a:ext cx="10749367" cy="1208868"/>
          </a:xfrm>
        </p:spPr>
        <p:txBody>
          <a:bodyPr anchor="b">
            <a:normAutofit/>
          </a:bodyPr>
          <a:lstStyle>
            <a:lvl1pPr>
              <a:defRPr sz="3600">
                <a:solidFill>
                  <a:schemeClr val="bg1"/>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838201" y="1825625"/>
            <a:ext cx="4167753" cy="4351338"/>
          </a:xfrm>
        </p:spPr>
        <p:txBody>
          <a:bodyPr>
            <a:normAutofit/>
          </a:bodyPr>
          <a:lstStyle>
            <a:lvl1pPr marL="0" indent="0">
              <a:lnSpc>
                <a:spcPct val="150000"/>
              </a:lnSpc>
              <a:spcAft>
                <a:spcPts val="1200"/>
              </a:spcAft>
              <a:buNone/>
              <a:defRPr sz="1600">
                <a:solidFill>
                  <a:schemeClr val="bg1">
                    <a:lumMod val="50000"/>
                  </a:schemeClr>
                </a:solidFill>
              </a:defRPr>
            </a:lvl1pPr>
            <a:lvl2pPr>
              <a:lnSpc>
                <a:spcPct val="150000"/>
              </a:lnSpc>
              <a:spcAft>
                <a:spcPts val="1200"/>
              </a:spcAft>
              <a:defRPr sz="1400">
                <a:solidFill>
                  <a:schemeClr val="bg1">
                    <a:lumMod val="50000"/>
                  </a:schemeClr>
                </a:solidFill>
              </a:defRPr>
            </a:lvl2pPr>
            <a:lvl3pPr>
              <a:lnSpc>
                <a:spcPct val="150000"/>
              </a:lnSpc>
              <a:spcAft>
                <a:spcPts val="1200"/>
              </a:spcAft>
              <a:defRPr sz="1200">
                <a:solidFill>
                  <a:schemeClr val="bg1">
                    <a:lumMod val="50000"/>
                  </a:schemeClr>
                </a:solidFill>
              </a:defRPr>
            </a:lvl3pPr>
            <a:lvl4pPr>
              <a:lnSpc>
                <a:spcPct val="150000"/>
              </a:lnSpc>
              <a:spcAft>
                <a:spcPts val="1200"/>
              </a:spcAft>
              <a:defRPr sz="1100">
                <a:solidFill>
                  <a:schemeClr val="bg1">
                    <a:lumMod val="50000"/>
                  </a:schemeClr>
                </a:solidFill>
              </a:defRPr>
            </a:lvl4pPr>
            <a:lvl5pPr>
              <a:lnSpc>
                <a:spcPct val="150000"/>
              </a:lnSpc>
              <a:spcAft>
                <a:spcPts val="1200"/>
              </a:spcAft>
              <a:defRPr sz="1100">
                <a:solidFill>
                  <a:schemeClr val="bg1">
                    <a:lumMod val="50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38201" y="2402238"/>
            <a:ext cx="4508715" cy="2187227"/>
          </a:xfrm>
        </p:spPr>
        <p:txBody>
          <a:bodyPr anchor="ctr">
            <a:noAutofit/>
          </a:bodyPr>
          <a:lstStyle>
            <a:lvl1pPr algn="l">
              <a:defRPr sz="4800">
                <a:solidFill>
                  <a:srgbClr val="D24726"/>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323308" y="2402237"/>
            <a:ext cx="5269424" cy="2187226"/>
          </a:xfrm>
        </p:spPr>
        <p:txBody>
          <a:bodyPr anchor="ctr">
            <a:normAutofit/>
          </a:bodyPr>
          <a:lstStyle>
            <a:lvl1pPr marL="0" indent="0">
              <a:lnSpc>
                <a:spcPct val="150000"/>
              </a:lnSpc>
              <a:buNone/>
              <a:defRPr sz="2800">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smtClean="0"/>
              <a:t>Click to edit Master text styles</a:t>
            </a:r>
          </a:p>
          <a:p>
            <a:pPr marL="0" lvl="1" indent="0">
              <a:lnSpc>
                <a:spcPct val="150000"/>
              </a:lnSpc>
              <a:spcAft>
                <a:spcPts val="1200"/>
              </a:spcAft>
              <a:buNone/>
            </a:pPr>
            <a:r>
              <a:rPr lang="en-US" smtClean="0"/>
              <a:t>Second level</a:t>
            </a:r>
          </a:p>
          <a:p>
            <a:pPr marL="0" lvl="2" indent="0">
              <a:lnSpc>
                <a:spcPct val="150000"/>
              </a:lnSpc>
              <a:spcAft>
                <a:spcPts val="1200"/>
              </a:spcAft>
              <a:buNone/>
            </a:pPr>
            <a:r>
              <a:rPr lang="en-US" smtClean="0"/>
              <a:t>Third level</a:t>
            </a:r>
          </a:p>
          <a:p>
            <a:pPr marL="0" lvl="3" indent="0">
              <a:lnSpc>
                <a:spcPct val="150000"/>
              </a:lnSpc>
              <a:spcAft>
                <a:spcPts val="1200"/>
              </a:spcAft>
              <a:buNone/>
            </a:pPr>
            <a:r>
              <a:rPr lang="en-US" smtClean="0"/>
              <a:t>Fourth level</a:t>
            </a:r>
          </a:p>
          <a:p>
            <a:pPr marL="0" lvl="4" indent="0">
              <a:lnSpc>
                <a:spcPct val="150000"/>
              </a:lnSpc>
              <a:spcAft>
                <a:spcPts val="1200"/>
              </a:spcAft>
              <a:buNone/>
            </a:pPr>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smtClean="0"/>
              <a:t>Click to edit Master text styles</a:t>
            </a:r>
          </a:p>
          <a:p>
            <a:pPr marL="0" lvl="1" indent="0">
              <a:lnSpc>
                <a:spcPct val="150000"/>
              </a:lnSpc>
              <a:spcAft>
                <a:spcPts val="1200"/>
              </a:spcAft>
              <a:buNone/>
            </a:pPr>
            <a:r>
              <a:rPr lang="en-US" smtClean="0"/>
              <a:t>Second level</a:t>
            </a:r>
          </a:p>
          <a:p>
            <a:pPr marL="0" lvl="2" indent="0">
              <a:lnSpc>
                <a:spcPct val="150000"/>
              </a:lnSpc>
              <a:spcAft>
                <a:spcPts val="1200"/>
              </a:spcAft>
              <a:buNone/>
            </a:pPr>
            <a:r>
              <a:rPr lang="en-US" smtClean="0"/>
              <a:t>Third level</a:t>
            </a:r>
          </a:p>
          <a:p>
            <a:pPr marL="0" lvl="3" indent="0">
              <a:lnSpc>
                <a:spcPct val="150000"/>
              </a:lnSpc>
              <a:spcAft>
                <a:spcPts val="1200"/>
              </a:spcAft>
              <a:buNone/>
            </a:pPr>
            <a:r>
              <a:rPr lang="en-US" smtClean="0"/>
              <a:t>Fourth level</a:t>
            </a:r>
          </a:p>
          <a:p>
            <a:pPr marL="0" lvl="4" indent="0">
              <a:lnSpc>
                <a:spcPct val="150000"/>
              </a:lnSpc>
              <a:spcAft>
                <a:spcPts val="1200"/>
              </a:spcAft>
              <a:buNone/>
            </a:pPr>
            <a:r>
              <a:rPr lang="en-US" smtClean="0"/>
              <a:t>Fifth level</a:t>
            </a:r>
            <a:endParaRPr lang="en-US"/>
          </a:p>
        </p:txBody>
      </p:sp>
      <p:sp>
        <p:nvSpPr>
          <p:cNvPr id="5" name="Date Placeholder 4"/>
          <p:cNvSpPr>
            <a:spLocks noGrp="1"/>
          </p:cNvSpPr>
          <p:nvPr>
            <p:ph type="dt" sz="half" idx="10"/>
          </p:nvPr>
        </p:nvSpPr>
        <p:spPr/>
        <p:txBody>
          <a:bodyPr/>
          <a:lstStyle/>
          <a:p>
            <a:fld id="{8BEEBAAA-29B5-4AF5-BC5F-7E580C29002D}"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
        <p:nvSpPr>
          <p:cNvPr id="9" name="Rectangle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2822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0"/>
            <a:ext cx="10737851" cy="1228436"/>
          </a:xfrm>
        </p:spPr>
        <p:txBody>
          <a:bodyPr anchor="b">
            <a:normAutofit/>
          </a:bodyPr>
          <a:lstStyle>
            <a:lvl1pPr>
              <a:defRPr sz="3600">
                <a:solidFill>
                  <a:schemeClr val="bg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831851" y="1489075"/>
            <a:ext cx="515620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1851" y="2193927"/>
            <a:ext cx="5156200"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smtClean="0"/>
              <a:t>Click to edit Master text styles</a:t>
            </a:r>
          </a:p>
          <a:p>
            <a:pPr marL="0" lvl="1" indent="0">
              <a:lnSpc>
                <a:spcPct val="150000"/>
              </a:lnSpc>
              <a:spcAft>
                <a:spcPts val="1200"/>
              </a:spcAft>
              <a:buNone/>
            </a:pPr>
            <a:r>
              <a:rPr lang="en-US" smtClean="0"/>
              <a:t>Second level</a:t>
            </a:r>
          </a:p>
          <a:p>
            <a:pPr marL="0" lvl="2" indent="0">
              <a:lnSpc>
                <a:spcPct val="150000"/>
              </a:lnSpc>
              <a:spcAft>
                <a:spcPts val="1200"/>
              </a:spcAft>
              <a:buNone/>
            </a:pPr>
            <a:r>
              <a:rPr lang="en-US" smtClean="0"/>
              <a:t>Third level</a:t>
            </a:r>
          </a:p>
          <a:p>
            <a:pPr marL="0" lvl="3" indent="0">
              <a:lnSpc>
                <a:spcPct val="150000"/>
              </a:lnSpc>
              <a:spcAft>
                <a:spcPts val="1200"/>
              </a:spcAft>
              <a:buNone/>
            </a:pPr>
            <a:r>
              <a:rPr lang="en-US" smtClean="0"/>
              <a:t>Fourth level</a:t>
            </a:r>
          </a:p>
          <a:p>
            <a:pPr marL="0" lvl="4" indent="0">
              <a:lnSpc>
                <a:spcPct val="150000"/>
              </a:lnSpc>
              <a:spcAft>
                <a:spcPts val="1200"/>
              </a:spcAft>
              <a:buNone/>
            </a:pPr>
            <a:r>
              <a:rPr lang="en-US" smtClean="0"/>
              <a:t>Fifth level</a:t>
            </a:r>
            <a:endParaRPr lang="en-US" dirty="0"/>
          </a:p>
        </p:txBody>
      </p:sp>
      <p:sp>
        <p:nvSpPr>
          <p:cNvPr id="5" name="Text Placeholder 4"/>
          <p:cNvSpPr>
            <a:spLocks noGrp="1"/>
          </p:cNvSpPr>
          <p:nvPr>
            <p:ph type="body" sz="quarter" idx="3"/>
          </p:nvPr>
        </p:nvSpPr>
        <p:spPr>
          <a:xfrm>
            <a:off x="6189664" y="1489075"/>
            <a:ext cx="5157787"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9664" y="2193927"/>
            <a:ext cx="5157787"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smtClean="0"/>
              <a:t>Click to edit Master text styles</a:t>
            </a:r>
          </a:p>
          <a:p>
            <a:pPr marL="0" lvl="1" indent="0">
              <a:lnSpc>
                <a:spcPct val="150000"/>
              </a:lnSpc>
              <a:spcAft>
                <a:spcPts val="1200"/>
              </a:spcAft>
              <a:buNone/>
            </a:pPr>
            <a:r>
              <a:rPr lang="en-US" smtClean="0"/>
              <a:t>Second level</a:t>
            </a:r>
          </a:p>
          <a:p>
            <a:pPr marL="0" lvl="2" indent="0">
              <a:lnSpc>
                <a:spcPct val="150000"/>
              </a:lnSpc>
              <a:spcAft>
                <a:spcPts val="1200"/>
              </a:spcAft>
              <a:buNone/>
            </a:pPr>
            <a:r>
              <a:rPr lang="en-US" smtClean="0"/>
              <a:t>Third level</a:t>
            </a:r>
          </a:p>
          <a:p>
            <a:pPr marL="0" lvl="3" indent="0">
              <a:lnSpc>
                <a:spcPct val="150000"/>
              </a:lnSpc>
              <a:spcAft>
                <a:spcPts val="1200"/>
              </a:spcAft>
              <a:buNone/>
            </a:pPr>
            <a:r>
              <a:rPr lang="en-US" smtClean="0"/>
              <a:t>Fourth level</a:t>
            </a:r>
          </a:p>
          <a:p>
            <a:pPr marL="0" lvl="4" indent="0">
              <a:lnSpc>
                <a:spcPct val="150000"/>
              </a:lnSpc>
              <a:spcAft>
                <a:spcPts val="1200"/>
              </a:spcAft>
              <a:buNone/>
            </a:pPr>
            <a:r>
              <a:rPr lang="en-US" smtClean="0"/>
              <a:t>Fifth level</a:t>
            </a:r>
            <a:endParaRPr lang="en-US"/>
          </a:p>
        </p:txBody>
      </p:sp>
      <p:sp>
        <p:nvSpPr>
          <p:cNvPr id="7" name="Date Placeholder 6"/>
          <p:cNvSpPr>
            <a:spLocks noGrp="1"/>
          </p:cNvSpPr>
          <p:nvPr>
            <p:ph type="dt" sz="half" idx="10"/>
          </p:nvPr>
        </p:nvSpPr>
        <p:spPr/>
        <p:txBody>
          <a:bodyPr/>
          <a:lstStyle/>
          <a:p>
            <a:fld id="{8BEEBAAA-29B5-4AF5-BC5F-7E580C29002D}"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t>‹#›</a:t>
            </a:fld>
            <a:endParaRPr lang="en-US"/>
          </a:p>
        </p:txBody>
      </p:sp>
      <p:sp>
        <p:nvSpPr>
          <p:cNvPr id="11" name="Rectangle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606029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0814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403743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7"/>
            <a:ext cx="6172200" cy="487362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smtClean="0"/>
              <a:t>Click to edit Master text styles</a:t>
            </a:r>
          </a:p>
          <a:p>
            <a:pPr marL="0" lvl="1" indent="0">
              <a:lnSpc>
                <a:spcPct val="150000"/>
              </a:lnSpc>
              <a:spcAft>
                <a:spcPts val="1200"/>
              </a:spcAft>
              <a:buNone/>
            </a:pPr>
            <a:r>
              <a:rPr lang="en-US" smtClean="0"/>
              <a:t>Second level</a:t>
            </a:r>
          </a:p>
          <a:p>
            <a:pPr marL="0" lvl="2" indent="0">
              <a:lnSpc>
                <a:spcPct val="150000"/>
              </a:lnSpc>
              <a:spcAft>
                <a:spcPts val="1200"/>
              </a:spcAft>
              <a:buNone/>
            </a:pPr>
            <a:r>
              <a:rPr lang="en-US" smtClean="0"/>
              <a:t>Third level</a:t>
            </a:r>
          </a:p>
          <a:p>
            <a:pPr marL="0" lvl="3" indent="0">
              <a:lnSpc>
                <a:spcPct val="150000"/>
              </a:lnSpc>
              <a:spcAft>
                <a:spcPts val="1200"/>
              </a:spcAft>
              <a:buNone/>
            </a:pPr>
            <a:r>
              <a:rPr lang="en-US" smtClean="0"/>
              <a:t>Fourth level</a:t>
            </a:r>
          </a:p>
          <a:p>
            <a:pPr marL="0" lvl="4" indent="0">
              <a:lnSpc>
                <a:spcPct val="150000"/>
              </a:lnSpc>
              <a:spcAft>
                <a:spcPts val="1200"/>
              </a:spcAft>
              <a:buNone/>
            </a:pPr>
            <a:r>
              <a:rPr lang="en-US" smtClean="0"/>
              <a:t>Fifth level</a:t>
            </a:r>
            <a:endParaRPr lang="en-US"/>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178419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316109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EEBAAA-29B5-4AF5-BC5F-7E580C29002D}"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59692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Vertical Title 1"/>
          <p:cNvSpPr>
            <a:spLocks noGrp="1"/>
          </p:cNvSpPr>
          <p:nvPr>
            <p:ph type="title" orient="vert"/>
          </p:nvPr>
        </p:nvSpPr>
        <p:spPr>
          <a:xfrm>
            <a:off x="10215419" y="365125"/>
            <a:ext cx="1819564" cy="5811838"/>
          </a:xfrm>
        </p:spPr>
        <p:txBody>
          <a:bodyPr vert="eaVert" anchor="b">
            <a:normAutofit/>
          </a:bodyPr>
          <a:lstStyle>
            <a:lvl1pPr>
              <a:defRPr sz="3600">
                <a:solidFill>
                  <a:schemeClr val="bg1"/>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EEBAAA-29B5-4AF5-BC5F-7E580C29002D}"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02266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t>8/3/2026</a:t>
            </a:fld>
            <a:endParaRPr lang="en-US"/>
          </a:p>
        </p:txBody>
      </p:sp>
      <p:sp>
        <p:nvSpPr>
          <p:cNvPr id="5" name="Footer Placeholder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t>‹#›</a:t>
            </a:fld>
            <a:endParaRPr lang="en-US"/>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1" y="376518"/>
            <a:ext cx="10820399" cy="4047564"/>
          </a:xfrm>
        </p:spPr>
        <p:txBody>
          <a:bodyPr>
            <a:normAutofit fontScale="90000"/>
          </a:bodyPr>
          <a:lstStyle/>
          <a:p>
            <a:pPr algn="ctr"/>
            <a:r>
              <a:rPr lang="en-US" sz="4000" b="1" dirty="0"/>
              <a:t>KERJA SAMA PENGURUSAN </a:t>
            </a:r>
            <a:r>
              <a:rPr lang="en-US" sz="4000" b="1" dirty="0" smtClean="0"/>
              <a:t>JENAZAH</a:t>
            </a:r>
            <a:r>
              <a:rPr lang="id-ID" sz="4000" b="1" dirty="0" smtClean="0"/>
              <a:t> </a:t>
            </a:r>
            <a:br>
              <a:rPr lang="id-ID" sz="4000" b="1" dirty="0" smtClean="0"/>
            </a:br>
            <a:r>
              <a:rPr lang="id-ID" sz="4000" b="1" dirty="0" smtClean="0"/>
              <a:t>antara </a:t>
            </a:r>
            <a:br>
              <a:rPr lang="id-ID" sz="4000" b="1" dirty="0" smtClean="0"/>
            </a:br>
            <a:r>
              <a:rPr lang="id-ID" sz="4000" b="1" dirty="0" smtClean="0"/>
              <a:t>DKM MASJID MUTIARA SUNNAH</a:t>
            </a:r>
            <a:br>
              <a:rPr lang="id-ID" sz="4000" b="1" dirty="0" smtClean="0"/>
            </a:br>
            <a:r>
              <a:rPr lang="id-ID" sz="2800" b="1" dirty="0" smtClean="0"/>
              <a:t>(Yayasan Mutiara Sunnah Legenda) </a:t>
            </a:r>
            <a:r>
              <a:rPr lang="id-ID" sz="4000" b="1" dirty="0" smtClean="0"/>
              <a:t/>
            </a:r>
            <a:br>
              <a:rPr lang="id-ID" sz="4000" b="1" dirty="0" smtClean="0"/>
            </a:br>
            <a:r>
              <a:rPr lang="en-US" sz="4000" b="1" dirty="0" smtClean="0"/>
              <a:t>&amp; </a:t>
            </a:r>
            <a:r>
              <a:rPr lang="id-ID" sz="4000" b="1" dirty="0" smtClean="0"/>
              <a:t/>
            </a:r>
            <a:br>
              <a:rPr lang="id-ID" sz="4000" b="1" dirty="0" smtClean="0"/>
            </a:br>
            <a:r>
              <a:rPr lang="id-ID" sz="4000" b="1" dirty="0" smtClean="0"/>
              <a:t>DKM MASJID JAMI AL BARKAH</a:t>
            </a:r>
            <a:br>
              <a:rPr lang="id-ID" sz="4000" b="1" dirty="0" smtClean="0"/>
            </a:br>
            <a:r>
              <a:rPr lang="id-ID" sz="3100" b="1" dirty="0" smtClean="0"/>
              <a:t>(Yayasana Cahaya Sunnah)</a:t>
            </a:r>
            <a:r>
              <a:rPr lang="id-ID" sz="4000" b="1" dirty="0" smtClean="0"/>
              <a:t> </a:t>
            </a:r>
            <a:endParaRPr lang="en-US" sz="4000" b="1" dirty="0"/>
          </a:p>
        </p:txBody>
      </p:sp>
      <p:sp>
        <p:nvSpPr>
          <p:cNvPr id="3" name="Subtitle 2"/>
          <p:cNvSpPr>
            <a:spLocks noGrp="1"/>
          </p:cNvSpPr>
          <p:nvPr>
            <p:ph type="subTitle" idx="1"/>
          </p:nvPr>
        </p:nvSpPr>
        <p:spPr>
          <a:xfrm>
            <a:off x="2411507" y="4801327"/>
            <a:ext cx="6705599" cy="1137793"/>
          </a:xfrm>
        </p:spPr>
        <p:txBody>
          <a:bodyPr>
            <a:normAutofit fontScale="92500"/>
          </a:bodyPr>
          <a:lstStyle/>
          <a:p>
            <a:r>
              <a:rPr lang="en-US" b="1" i="1" dirty="0" err="1">
                <a:latin typeface="Bradley Hand ITC" panose="03070402050302030203" pitchFamily="66" charset="0"/>
              </a:rPr>
              <a:t>Memuliakan</a:t>
            </a:r>
            <a:r>
              <a:rPr lang="en-US" b="1" i="1" dirty="0">
                <a:latin typeface="Bradley Hand ITC" panose="03070402050302030203" pitchFamily="66" charset="0"/>
              </a:rPr>
              <a:t> </a:t>
            </a:r>
            <a:r>
              <a:rPr lang="en-US" b="1" i="1" dirty="0" err="1">
                <a:latin typeface="Bradley Hand ITC" panose="03070402050302030203" pitchFamily="66" charset="0"/>
              </a:rPr>
              <a:t>Jenazah</a:t>
            </a:r>
            <a:r>
              <a:rPr lang="en-US" b="1" i="1" dirty="0">
                <a:latin typeface="Bradley Hand ITC" panose="03070402050302030203" pitchFamily="66" charset="0"/>
              </a:rPr>
              <a:t>, </a:t>
            </a:r>
            <a:r>
              <a:rPr lang="en-US" b="1" i="1" dirty="0" err="1">
                <a:latin typeface="Bradley Hand ITC" panose="03070402050302030203" pitchFamily="66" charset="0"/>
              </a:rPr>
              <a:t>Meringankan</a:t>
            </a:r>
            <a:r>
              <a:rPr lang="en-US" b="1" i="1" dirty="0">
                <a:latin typeface="Bradley Hand ITC" panose="03070402050302030203" pitchFamily="66" charset="0"/>
              </a:rPr>
              <a:t> </a:t>
            </a:r>
            <a:r>
              <a:rPr lang="en-US" b="1" i="1" dirty="0" err="1">
                <a:latin typeface="Bradley Hand ITC" panose="03070402050302030203" pitchFamily="66" charset="0"/>
              </a:rPr>
              <a:t>Keluarga</a:t>
            </a:r>
            <a:endParaRPr lang="en-US" b="1" i="1" dirty="0">
              <a:latin typeface="Bradley Hand ITC" panose="03070402050302030203" pitchFamily="66" charset="0"/>
            </a:endParaRPr>
          </a:p>
        </p:txBody>
      </p:sp>
    </p:spTree>
    <p:extLst>
      <p:ext uri="{BB962C8B-B14F-4D97-AF65-F5344CB8AC3E}">
        <p14:creationId xmlns:p14="http://schemas.microsoft.com/office/powerpoint/2010/main" val="2471807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0988" y="269993"/>
            <a:ext cx="10717988" cy="644407"/>
          </a:xfrm>
        </p:spPr>
        <p:txBody>
          <a:bodyPr/>
          <a:lstStyle/>
          <a:p>
            <a:r>
              <a:rPr lang="en-US" dirty="0" smtClean="0">
                <a:solidFill>
                  <a:srgbClr val="FFFF00"/>
                </a:solidFill>
              </a:rPr>
              <a:t>Q</a:t>
            </a:r>
            <a:r>
              <a:rPr lang="id-ID" dirty="0" smtClean="0"/>
              <a:t> </a:t>
            </a:r>
            <a:r>
              <a:rPr lang="en-US" dirty="0" smtClean="0"/>
              <a:t>: </a:t>
            </a:r>
            <a:r>
              <a:rPr lang="en-US" dirty="0" err="1"/>
              <a:t>Apa</a:t>
            </a:r>
            <a:r>
              <a:rPr lang="en-US" dirty="0"/>
              <a:t> </a:t>
            </a:r>
            <a:r>
              <a:rPr lang="en-US" dirty="0" err="1"/>
              <a:t>itu</a:t>
            </a:r>
            <a:r>
              <a:rPr lang="en-US" dirty="0"/>
              <a:t> PKS </a:t>
            </a:r>
            <a:r>
              <a:rPr lang="en-US" dirty="0" err="1"/>
              <a:t>Pengurusan</a:t>
            </a:r>
            <a:r>
              <a:rPr lang="en-US" dirty="0"/>
              <a:t> </a:t>
            </a:r>
            <a:r>
              <a:rPr lang="en-US" dirty="0" err="1"/>
              <a:t>Jenazah</a:t>
            </a:r>
            <a:r>
              <a:rPr lang="en-US" dirty="0"/>
              <a:t> YMSL &amp; </a:t>
            </a:r>
            <a:r>
              <a:rPr lang="en-US" dirty="0" smtClean="0"/>
              <a:t>YCS</a:t>
            </a:r>
            <a:r>
              <a:rPr lang="id-ID" dirty="0" smtClean="0"/>
              <a:t> </a:t>
            </a:r>
            <a:r>
              <a:rPr lang="en-US" dirty="0" smtClean="0"/>
              <a:t>?</a:t>
            </a:r>
            <a:endParaRPr lang="en-US" dirty="0"/>
          </a:p>
        </p:txBody>
      </p:sp>
      <p:sp>
        <p:nvSpPr>
          <p:cNvPr id="3" name="Content Placeholder 2"/>
          <p:cNvSpPr>
            <a:spLocks noGrp="1"/>
          </p:cNvSpPr>
          <p:nvPr>
            <p:ph idx="1"/>
          </p:nvPr>
        </p:nvSpPr>
        <p:spPr>
          <a:xfrm>
            <a:off x="838200" y="1825624"/>
            <a:ext cx="10188388" cy="4447761"/>
          </a:xfrm>
        </p:spPr>
        <p:txBody>
          <a:bodyPr>
            <a:normAutofit/>
          </a:bodyPr>
          <a:lstStyle/>
          <a:p>
            <a:pPr algn="just"/>
            <a:r>
              <a:rPr lang="en-US" b="1" dirty="0" smtClean="0">
                <a:solidFill>
                  <a:schemeClr val="accent6">
                    <a:lumMod val="50000"/>
                  </a:schemeClr>
                </a:solidFill>
              </a:rPr>
              <a:t>A</a:t>
            </a:r>
            <a:r>
              <a:rPr lang="id-ID" b="1" dirty="0" smtClean="0"/>
              <a:t> </a:t>
            </a:r>
            <a:r>
              <a:rPr lang="en-US" b="1" dirty="0" smtClean="0"/>
              <a:t>: </a:t>
            </a:r>
            <a:r>
              <a:rPr lang="en-US" b="1" dirty="0" err="1"/>
              <a:t>Perjanjian</a:t>
            </a:r>
            <a:r>
              <a:rPr lang="en-US" b="1" dirty="0"/>
              <a:t> </a:t>
            </a:r>
            <a:r>
              <a:rPr lang="en-US" b="1" dirty="0" err="1"/>
              <a:t>kerja</a:t>
            </a:r>
            <a:r>
              <a:rPr lang="en-US" b="1" dirty="0"/>
              <a:t> </a:t>
            </a:r>
            <a:r>
              <a:rPr lang="en-US" b="1" dirty="0" err="1"/>
              <a:t>sama</a:t>
            </a:r>
            <a:r>
              <a:rPr lang="en-US" b="1" dirty="0"/>
              <a:t> </a:t>
            </a:r>
            <a:r>
              <a:rPr lang="en-US" b="1" dirty="0" err="1"/>
              <a:t>untuk</a:t>
            </a:r>
            <a:r>
              <a:rPr lang="en-US" b="1" dirty="0"/>
              <a:t> </a:t>
            </a:r>
            <a:r>
              <a:rPr lang="en-US" b="1" dirty="0" err="1"/>
              <a:t>memberikan</a:t>
            </a:r>
            <a:r>
              <a:rPr lang="en-US" b="1" dirty="0"/>
              <a:t> </a:t>
            </a:r>
            <a:r>
              <a:rPr lang="en-US" b="1" dirty="0" err="1"/>
              <a:t>pelayanan</a:t>
            </a:r>
            <a:r>
              <a:rPr lang="en-US" b="1" dirty="0"/>
              <a:t> </a:t>
            </a:r>
            <a:r>
              <a:rPr lang="en-US" b="1" dirty="0" err="1"/>
              <a:t>pengurusan</a:t>
            </a:r>
            <a:r>
              <a:rPr lang="en-US" b="1" dirty="0"/>
              <a:t> </a:t>
            </a:r>
            <a:r>
              <a:rPr lang="en-US" b="1" dirty="0" err="1"/>
              <a:t>jenazah</a:t>
            </a:r>
            <a:r>
              <a:rPr lang="en-US" b="1" dirty="0"/>
              <a:t> Muslim </a:t>
            </a:r>
            <a:r>
              <a:rPr lang="en-US" b="1" dirty="0" err="1"/>
              <a:t>secara</a:t>
            </a:r>
            <a:r>
              <a:rPr lang="en-US" b="1" dirty="0"/>
              <a:t> </a:t>
            </a:r>
            <a:r>
              <a:rPr lang="en-US" b="1" dirty="0" err="1"/>
              <a:t>syar'i</a:t>
            </a:r>
            <a:r>
              <a:rPr lang="en-US" b="1" dirty="0"/>
              <a:t>, </a:t>
            </a:r>
            <a:r>
              <a:rPr lang="en-US" b="1" dirty="0" err="1"/>
              <a:t>cepat</a:t>
            </a:r>
            <a:r>
              <a:rPr lang="en-US" b="1" dirty="0"/>
              <a:t>, </a:t>
            </a:r>
            <a:r>
              <a:rPr lang="en-US" b="1" dirty="0" err="1"/>
              <a:t>dan</a:t>
            </a:r>
            <a:r>
              <a:rPr lang="en-US" b="1" dirty="0"/>
              <a:t> </a:t>
            </a:r>
            <a:r>
              <a:rPr lang="en-US" b="1" dirty="0" err="1"/>
              <a:t>profesional</a:t>
            </a:r>
            <a:r>
              <a:rPr lang="en-US" b="1" dirty="0"/>
              <a:t> </a:t>
            </a:r>
            <a:r>
              <a:rPr lang="en-US" b="1" dirty="0" err="1"/>
              <a:t>oleh</a:t>
            </a:r>
            <a:r>
              <a:rPr lang="en-US" b="1" dirty="0"/>
              <a:t> Tim </a:t>
            </a:r>
            <a:r>
              <a:rPr lang="id-ID" b="1" dirty="0" smtClean="0"/>
              <a:t>Relawan / Petugas DKM Masjid Al Barkah - </a:t>
            </a:r>
            <a:r>
              <a:rPr lang="en-US" b="1" dirty="0" smtClean="0"/>
              <a:t>YCS </a:t>
            </a:r>
            <a:r>
              <a:rPr lang="en-US" b="1" dirty="0" err="1"/>
              <a:t>bekerja</a:t>
            </a:r>
            <a:r>
              <a:rPr lang="en-US" b="1" dirty="0"/>
              <a:t> </a:t>
            </a:r>
            <a:r>
              <a:rPr lang="en-US" b="1" dirty="0" err="1"/>
              <a:t>sama</a:t>
            </a:r>
            <a:r>
              <a:rPr lang="en-US" b="1" dirty="0"/>
              <a:t> </a:t>
            </a:r>
            <a:r>
              <a:rPr lang="en-US" b="1" dirty="0" err="1"/>
              <a:t>dengan</a:t>
            </a:r>
            <a:r>
              <a:rPr lang="en-US" b="1" dirty="0"/>
              <a:t> </a:t>
            </a:r>
            <a:r>
              <a:rPr lang="id-ID" b="1" dirty="0" smtClean="0"/>
              <a:t>DKM Masjid Mutiara Sunnah - </a:t>
            </a:r>
            <a:r>
              <a:rPr lang="en-US" b="1" dirty="0" smtClean="0"/>
              <a:t>YMSL</a:t>
            </a:r>
            <a:r>
              <a:rPr lang="en-US" b="1" dirty="0"/>
              <a:t>.</a:t>
            </a:r>
            <a:endParaRPr lang="en-US" b="1" dirty="0" smtClean="0"/>
          </a:p>
          <a:p>
            <a:endParaRPr lang="en-US" dirty="0"/>
          </a:p>
        </p:txBody>
      </p:sp>
    </p:spTree>
    <p:extLst>
      <p:ext uri="{BB962C8B-B14F-4D97-AF65-F5344CB8AC3E}">
        <p14:creationId xmlns:p14="http://schemas.microsoft.com/office/powerpoint/2010/main" val="2090733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barn(inVertical)">
                                      <p:cBhvr>
                                        <p:cTn id="1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7541" y="240298"/>
            <a:ext cx="10677648" cy="712694"/>
          </a:xfrm>
        </p:spPr>
        <p:txBody>
          <a:bodyPr/>
          <a:lstStyle/>
          <a:p>
            <a:r>
              <a:rPr lang="fi-FI" b="1" dirty="0" smtClean="0">
                <a:solidFill>
                  <a:srgbClr val="FFFF00"/>
                </a:solidFill>
              </a:rPr>
              <a:t>Q</a:t>
            </a:r>
            <a:r>
              <a:rPr lang="id-ID" b="1" dirty="0" smtClean="0"/>
              <a:t> </a:t>
            </a:r>
            <a:r>
              <a:rPr lang="fi-FI" b="1" dirty="0" smtClean="0"/>
              <a:t>: </a:t>
            </a:r>
            <a:r>
              <a:rPr lang="fi-FI" b="1" dirty="0"/>
              <a:t>Layanan apa saja yang </a:t>
            </a:r>
            <a:r>
              <a:rPr lang="fi-FI" b="1" dirty="0" smtClean="0"/>
              <a:t>diberikan</a:t>
            </a:r>
            <a:r>
              <a:rPr lang="id-ID" b="1" dirty="0" smtClean="0"/>
              <a:t> </a:t>
            </a:r>
            <a:r>
              <a:rPr lang="fi-FI" b="1" dirty="0" smtClean="0"/>
              <a:t>?</a:t>
            </a:r>
            <a:endParaRPr lang="en-US" b="1" dirty="0"/>
          </a:p>
        </p:txBody>
      </p:sp>
      <p:sp>
        <p:nvSpPr>
          <p:cNvPr id="3" name="Content Placeholder 2"/>
          <p:cNvSpPr>
            <a:spLocks noGrp="1"/>
          </p:cNvSpPr>
          <p:nvPr>
            <p:ph idx="1"/>
          </p:nvPr>
        </p:nvSpPr>
        <p:spPr>
          <a:xfrm>
            <a:off x="838200" y="1825625"/>
            <a:ext cx="8561294" cy="4433752"/>
          </a:xfrm>
        </p:spPr>
        <p:txBody>
          <a:bodyPr>
            <a:normAutofit/>
          </a:bodyPr>
          <a:lstStyle/>
          <a:p>
            <a:r>
              <a:rPr lang="en-US" b="1" dirty="0" smtClean="0">
                <a:solidFill>
                  <a:schemeClr val="accent6">
                    <a:lumMod val="50000"/>
                  </a:schemeClr>
                </a:solidFill>
              </a:rPr>
              <a:t>A</a:t>
            </a:r>
            <a:r>
              <a:rPr lang="id-ID" b="1" dirty="0" smtClean="0"/>
              <a:t> </a:t>
            </a:r>
            <a:r>
              <a:rPr lang="en-US" b="1" dirty="0" smtClean="0"/>
              <a:t>: </a:t>
            </a:r>
            <a:endParaRPr lang="id-ID" b="1" dirty="0" smtClean="0"/>
          </a:p>
          <a:p>
            <a:pPr marL="342900" indent="-342900">
              <a:buAutoNum type="arabicPeriod"/>
            </a:pPr>
            <a:r>
              <a:rPr lang="en-US" b="1" dirty="0" err="1" smtClean="0"/>
              <a:t>Penjemputan</a:t>
            </a:r>
            <a:r>
              <a:rPr lang="en-US" b="1" dirty="0" smtClean="0"/>
              <a:t> </a:t>
            </a:r>
            <a:r>
              <a:rPr lang="en-US" b="1" dirty="0" err="1"/>
              <a:t>Jenazah</a:t>
            </a:r>
            <a:r>
              <a:rPr lang="en-US" b="1" dirty="0"/>
              <a:t> </a:t>
            </a:r>
            <a:r>
              <a:rPr lang="en-US" b="1" dirty="0" smtClean="0"/>
              <a:t>– </a:t>
            </a:r>
            <a:r>
              <a:rPr lang="en-US" b="1" dirty="0" err="1" smtClean="0"/>
              <a:t>Ambulans</a:t>
            </a:r>
            <a:endParaRPr lang="id-ID" b="1" dirty="0" smtClean="0"/>
          </a:p>
          <a:p>
            <a:pPr marL="342900" indent="-342900">
              <a:buAutoNum type="arabicPeriod"/>
            </a:pPr>
            <a:r>
              <a:rPr lang="id-ID" b="1" dirty="0" smtClean="0"/>
              <a:t>Memadikan </a:t>
            </a:r>
            <a:r>
              <a:rPr lang="en-US" b="1" dirty="0" smtClean="0"/>
              <a:t>&amp; </a:t>
            </a:r>
            <a:r>
              <a:rPr lang="en-US" b="1" dirty="0" err="1"/>
              <a:t>Pengkafanan</a:t>
            </a:r>
            <a:r>
              <a:rPr lang="en-US" b="1" dirty="0"/>
              <a:t>  </a:t>
            </a:r>
            <a:endParaRPr lang="id-ID" b="1" dirty="0" smtClean="0"/>
          </a:p>
          <a:p>
            <a:pPr marL="342900" indent="-342900">
              <a:buAutoNum type="arabicPeriod"/>
            </a:pPr>
            <a:r>
              <a:rPr lang="id-ID" b="1" dirty="0" smtClean="0"/>
              <a:t>Men- Shalatkan</a:t>
            </a:r>
          </a:p>
          <a:p>
            <a:pPr marL="342900" indent="-342900">
              <a:buAutoNum type="arabicPeriod"/>
            </a:pPr>
            <a:r>
              <a:rPr lang="en-US" b="1" dirty="0" err="1" smtClean="0"/>
              <a:t>Pengantaran</a:t>
            </a:r>
            <a:r>
              <a:rPr lang="en-US" b="1" dirty="0" smtClean="0"/>
              <a:t> </a:t>
            </a:r>
            <a:r>
              <a:rPr lang="en-US" b="1" dirty="0" err="1"/>
              <a:t>ke</a:t>
            </a:r>
            <a:r>
              <a:rPr lang="en-US" b="1" dirty="0"/>
              <a:t> </a:t>
            </a:r>
            <a:r>
              <a:rPr lang="en-US" b="1" dirty="0" err="1" smtClean="0"/>
              <a:t>Pemakaman</a:t>
            </a:r>
            <a:endParaRPr lang="id-ID" b="1" dirty="0" smtClean="0"/>
          </a:p>
          <a:p>
            <a:pPr marL="342900" indent="-342900">
              <a:buAutoNum type="arabicPeriod"/>
            </a:pPr>
            <a:r>
              <a:rPr lang="id-ID" b="1" dirty="0" smtClean="0"/>
              <a:t>Menguburkan Jenazah</a:t>
            </a:r>
            <a:endParaRPr lang="en-US" b="1" dirty="0" smtClean="0"/>
          </a:p>
          <a:p>
            <a:endParaRPr lang="en-US" dirty="0"/>
          </a:p>
        </p:txBody>
      </p: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animEffect transition="in" filter="fade">
                                      <p:cBhvr>
                                        <p:cTn id="33" dur="1000"/>
                                        <p:tgtEl>
                                          <p:spTgt spid="3">
                                            <p:txEl>
                                              <p:pRg st="3" end="3"/>
                                            </p:txEl>
                                          </p:spTgt>
                                        </p:tgtEl>
                                      </p:cBhvr>
                                    </p:animEffect>
                                    <p:anim calcmode="lin" valueType="num">
                                      <p:cBhvr>
                                        <p:cTn id="34"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4" end="4"/>
                                            </p:txEl>
                                          </p:spTgt>
                                        </p:tgtEl>
                                        <p:attrNameLst>
                                          <p:attrName>style.visibility</p:attrName>
                                        </p:attrNameLst>
                                      </p:cBhvr>
                                      <p:to>
                                        <p:strVal val="visible"/>
                                      </p:to>
                                    </p:set>
                                    <p:animEffect transition="in" filter="fade">
                                      <p:cBhvr>
                                        <p:cTn id="40" dur="1000"/>
                                        <p:tgtEl>
                                          <p:spTgt spid="3">
                                            <p:txEl>
                                              <p:pRg st="4" end="4"/>
                                            </p:txEl>
                                          </p:spTgt>
                                        </p:tgtEl>
                                      </p:cBhvr>
                                    </p:animEffect>
                                    <p:anim calcmode="lin" valueType="num">
                                      <p:cBhvr>
                                        <p:cTn id="41"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Effect transition="in" filter="fade">
                                      <p:cBhvr>
                                        <p:cTn id="47" dur="1000"/>
                                        <p:tgtEl>
                                          <p:spTgt spid="3">
                                            <p:txEl>
                                              <p:pRg st="5" end="5"/>
                                            </p:txEl>
                                          </p:spTgt>
                                        </p:tgtEl>
                                      </p:cBhvr>
                                    </p:animEffect>
                                    <p:anim calcmode="lin" valueType="num">
                                      <p:cBhvr>
                                        <p:cTn id="4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881" y="295835"/>
            <a:ext cx="10583519" cy="645459"/>
          </a:xfrm>
        </p:spPr>
        <p:txBody>
          <a:bodyPr/>
          <a:lstStyle/>
          <a:p>
            <a:r>
              <a:rPr lang="en-US" b="1" dirty="0" smtClean="0">
                <a:solidFill>
                  <a:srgbClr val="FFFF00"/>
                </a:solidFill>
              </a:rPr>
              <a:t>Q</a:t>
            </a:r>
            <a:r>
              <a:rPr lang="id-ID" b="1" dirty="0" smtClean="0"/>
              <a:t> </a:t>
            </a:r>
            <a:r>
              <a:rPr lang="en-US" b="1" dirty="0" smtClean="0"/>
              <a:t>: </a:t>
            </a:r>
            <a:r>
              <a:rPr lang="en-US" b="1" dirty="0" err="1"/>
              <a:t>Apakah</a:t>
            </a:r>
            <a:r>
              <a:rPr lang="en-US" b="1" dirty="0"/>
              <a:t> </a:t>
            </a:r>
            <a:r>
              <a:rPr lang="en-US" b="1" dirty="0" err="1"/>
              <a:t>ada</a:t>
            </a:r>
            <a:r>
              <a:rPr lang="en-US" b="1" dirty="0"/>
              <a:t> </a:t>
            </a:r>
            <a:r>
              <a:rPr lang="en-US" b="1" dirty="0" err="1" smtClean="0"/>
              <a:t>biaya</a:t>
            </a:r>
            <a:r>
              <a:rPr lang="id-ID" b="1" dirty="0" smtClean="0"/>
              <a:t> </a:t>
            </a:r>
            <a:r>
              <a:rPr lang="en-US" b="1" dirty="0" smtClean="0"/>
              <a:t>?</a:t>
            </a:r>
            <a:endParaRPr lang="en-US" b="1" dirty="0"/>
          </a:p>
        </p:txBody>
      </p:sp>
      <p:sp>
        <p:nvSpPr>
          <p:cNvPr id="3" name="Content Placeholder 2"/>
          <p:cNvSpPr>
            <a:spLocks noGrp="1"/>
          </p:cNvSpPr>
          <p:nvPr>
            <p:ph idx="1"/>
          </p:nvPr>
        </p:nvSpPr>
        <p:spPr>
          <a:xfrm>
            <a:off x="838201" y="1825625"/>
            <a:ext cx="9085728" cy="4351338"/>
          </a:xfrm>
        </p:spPr>
        <p:txBody>
          <a:bodyPr/>
          <a:lstStyle/>
          <a:p>
            <a:r>
              <a:rPr lang="en-US" b="1" dirty="0" smtClean="0"/>
              <a:t>A</a:t>
            </a:r>
            <a:r>
              <a:rPr lang="id-ID" b="1" dirty="0" smtClean="0"/>
              <a:t> </a:t>
            </a:r>
            <a:r>
              <a:rPr lang="en-US" b="1" dirty="0" smtClean="0"/>
              <a:t>: </a:t>
            </a:r>
            <a:endParaRPr lang="id-ID" b="1" dirty="0" smtClean="0"/>
          </a:p>
          <a:p>
            <a:pPr marL="342900" indent="-342900">
              <a:buAutoNum type="arabicPeriod"/>
            </a:pPr>
            <a:r>
              <a:rPr lang="id-ID" b="1" dirty="0" smtClean="0"/>
              <a:t>Ada, Untuk biaya sewa Pemakaman menjadi tanggung jawab ahli waris/ Keluarga Jenazah, adapun besarannya sesuai ketentuan pengelola pemakaman.</a:t>
            </a:r>
          </a:p>
          <a:p>
            <a:pPr marL="342900" indent="-342900" algn="just">
              <a:buAutoNum type="arabicPeriod"/>
            </a:pPr>
            <a:r>
              <a:rPr lang="id-ID" b="1" dirty="0" smtClean="0"/>
              <a:t>Tidak ada, Untuk perlengkapan memadikan dan mengkafani jenazah dan infaq kepada mitra kerjasama serta para Relawan menjadi tanggung jawab Masjid Mutiara Sunnah (diambil dari dana infak jamaah masjid dan infaq ahli waris/keluarga jenazah). </a:t>
            </a:r>
            <a:endParaRPr lang="en-US" b="1" dirty="0"/>
          </a:p>
        </p:txBody>
      </p:sp>
    </p:spTree>
    <p:extLst>
      <p:ext uri="{BB962C8B-B14F-4D97-AF65-F5344CB8AC3E}">
        <p14:creationId xmlns:p14="http://schemas.microsoft.com/office/powerpoint/2010/main" val="15315322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p:cTn id="3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881" y="295835"/>
            <a:ext cx="10583519" cy="645459"/>
          </a:xfrm>
        </p:spPr>
        <p:txBody>
          <a:bodyPr/>
          <a:lstStyle/>
          <a:p>
            <a:r>
              <a:rPr lang="en-US" b="1" dirty="0" smtClean="0">
                <a:solidFill>
                  <a:srgbClr val="FFFF00"/>
                </a:solidFill>
              </a:rPr>
              <a:t>Q</a:t>
            </a:r>
            <a:r>
              <a:rPr lang="id-ID" b="1" dirty="0" smtClean="0"/>
              <a:t> </a:t>
            </a:r>
            <a:r>
              <a:rPr lang="en-US" b="1" dirty="0" smtClean="0"/>
              <a:t>: </a:t>
            </a:r>
            <a:r>
              <a:rPr lang="en-US" b="1" dirty="0" err="1"/>
              <a:t>Langkah</a:t>
            </a:r>
            <a:r>
              <a:rPr lang="en-US" b="1" dirty="0"/>
              <a:t> </a:t>
            </a:r>
            <a:r>
              <a:rPr lang="en-US" b="1" dirty="0" err="1"/>
              <a:t>pertama</a:t>
            </a:r>
            <a:r>
              <a:rPr lang="en-US" b="1" dirty="0"/>
              <a:t> </a:t>
            </a:r>
            <a:r>
              <a:rPr lang="en-US" b="1" dirty="0" err="1"/>
              <a:t>jika</a:t>
            </a:r>
            <a:r>
              <a:rPr lang="en-US" b="1" dirty="0"/>
              <a:t> </a:t>
            </a:r>
            <a:r>
              <a:rPr lang="en-US" b="1" dirty="0" err="1"/>
              <a:t>ada</a:t>
            </a:r>
            <a:r>
              <a:rPr lang="en-US" b="1" dirty="0"/>
              <a:t> </a:t>
            </a:r>
            <a:r>
              <a:rPr lang="en-US" b="1" dirty="0" err="1"/>
              <a:t>warga</a:t>
            </a:r>
            <a:r>
              <a:rPr lang="en-US" b="1" dirty="0"/>
              <a:t> </a:t>
            </a:r>
            <a:r>
              <a:rPr lang="en-US" b="1" dirty="0" err="1" smtClean="0"/>
              <a:t>meninggal</a:t>
            </a:r>
            <a:r>
              <a:rPr lang="id-ID" b="1" dirty="0" smtClean="0"/>
              <a:t> </a:t>
            </a:r>
            <a:r>
              <a:rPr lang="en-US" b="1" dirty="0" smtClean="0"/>
              <a:t>?</a:t>
            </a:r>
            <a:endParaRPr lang="en-US" b="1" dirty="0"/>
          </a:p>
        </p:txBody>
      </p:sp>
      <p:sp>
        <p:nvSpPr>
          <p:cNvPr id="3" name="Content Placeholder 2"/>
          <p:cNvSpPr>
            <a:spLocks noGrp="1"/>
          </p:cNvSpPr>
          <p:nvPr>
            <p:ph idx="1"/>
          </p:nvPr>
        </p:nvSpPr>
        <p:spPr>
          <a:xfrm>
            <a:off x="838201" y="1825625"/>
            <a:ext cx="9085728" cy="4351338"/>
          </a:xfrm>
        </p:spPr>
        <p:txBody>
          <a:bodyPr>
            <a:normAutofit/>
          </a:bodyPr>
          <a:lstStyle/>
          <a:p>
            <a:r>
              <a:rPr lang="en-US" b="1" dirty="0" smtClean="0">
                <a:solidFill>
                  <a:schemeClr val="accent6">
                    <a:lumMod val="50000"/>
                  </a:schemeClr>
                </a:solidFill>
              </a:rPr>
              <a:t>A</a:t>
            </a:r>
            <a:r>
              <a:rPr lang="id-ID" b="1" dirty="0" smtClean="0"/>
              <a:t> </a:t>
            </a:r>
            <a:r>
              <a:rPr lang="en-US" b="1" dirty="0" smtClean="0"/>
              <a:t>: </a:t>
            </a:r>
            <a:endParaRPr lang="id-ID" b="1" dirty="0" smtClean="0"/>
          </a:p>
          <a:p>
            <a:pPr marL="342900" indent="-342900">
              <a:buAutoNum type="arabicPeriod"/>
            </a:pPr>
            <a:r>
              <a:rPr lang="id-ID" b="1" dirty="0" smtClean="0"/>
              <a:t>Segera </a:t>
            </a:r>
            <a:r>
              <a:rPr lang="id-ID" b="1" dirty="0"/>
              <a:t>hubungi </a:t>
            </a:r>
            <a:r>
              <a:rPr lang="id-ID" b="1" dirty="0" smtClean="0"/>
              <a:t>Relawan Masjid Mutiara Sunnah di nomor kontak :</a:t>
            </a:r>
          </a:p>
          <a:p>
            <a:pPr marL="457200" lvl="1" indent="0">
              <a:lnSpc>
                <a:spcPct val="120000"/>
              </a:lnSpc>
              <a:buNone/>
            </a:pPr>
            <a:r>
              <a:rPr lang="id-ID" b="1" dirty="0" smtClean="0"/>
              <a:t>- 082317496608 </a:t>
            </a:r>
            <a:r>
              <a:rPr lang="id-ID" b="1" dirty="0"/>
              <a:t>(Sekertariat </a:t>
            </a:r>
            <a:r>
              <a:rPr lang="id-ID" b="1" dirty="0" smtClean="0"/>
              <a:t>DKM</a:t>
            </a:r>
            <a:r>
              <a:rPr lang="id-ID" b="1" dirty="0" smtClean="0"/>
              <a:t>)</a:t>
            </a:r>
            <a:br>
              <a:rPr lang="id-ID" b="1" dirty="0" smtClean="0"/>
            </a:br>
            <a:r>
              <a:rPr lang="id-ID" b="1" dirty="0" smtClean="0"/>
              <a:t>- </a:t>
            </a:r>
            <a:r>
              <a:rPr lang="id-ID" b="1" dirty="0" smtClean="0"/>
              <a:t>08129569456 (Yahu)</a:t>
            </a:r>
            <a:br>
              <a:rPr lang="id-ID" b="1" dirty="0" smtClean="0"/>
            </a:br>
            <a:r>
              <a:rPr lang="id-ID" b="1" dirty="0" smtClean="0"/>
              <a:t>- 08119698282 </a:t>
            </a:r>
            <a:r>
              <a:rPr lang="id-ID" b="1" dirty="0"/>
              <a:t>(</a:t>
            </a:r>
            <a:r>
              <a:rPr lang="id-ID" b="1" dirty="0" smtClean="0"/>
              <a:t>Iyus</a:t>
            </a:r>
            <a:r>
              <a:rPr lang="id-ID" b="1" dirty="0" smtClean="0"/>
              <a:t>)</a:t>
            </a:r>
            <a:br>
              <a:rPr lang="id-ID" b="1" dirty="0" smtClean="0"/>
            </a:br>
            <a:r>
              <a:rPr lang="id-ID" b="1" dirty="0" smtClean="0"/>
              <a:t>- </a:t>
            </a:r>
            <a:r>
              <a:rPr lang="id-ID" b="1" dirty="0"/>
              <a:t>082213308104 (Denny</a:t>
            </a:r>
            <a:r>
              <a:rPr lang="id-ID" b="1" dirty="0" smtClean="0"/>
              <a:t>).</a:t>
            </a:r>
            <a:r>
              <a:rPr lang="id-ID" b="1" dirty="0" smtClean="0"/>
              <a:t/>
            </a:r>
            <a:br>
              <a:rPr lang="id-ID" b="1" dirty="0" smtClean="0"/>
            </a:br>
            <a:r>
              <a:rPr lang="id-ID" b="1" dirty="0" smtClean="0"/>
              <a:t>- 081288015745 </a:t>
            </a:r>
            <a:r>
              <a:rPr lang="id-ID" b="1" dirty="0"/>
              <a:t>(Bambang </a:t>
            </a:r>
            <a:r>
              <a:rPr lang="id-ID" b="1" dirty="0" smtClean="0"/>
              <a:t>Rusdi)</a:t>
            </a:r>
            <a:br>
              <a:rPr lang="id-ID" b="1" dirty="0" smtClean="0"/>
            </a:br>
            <a:endParaRPr lang="id-ID" b="1" dirty="0"/>
          </a:p>
          <a:p>
            <a:r>
              <a:rPr lang="id-ID" b="1" dirty="0" smtClean="0"/>
              <a:t>2. Mengisi Form/ menyampaikan data Jenazah (antara lain : nama, alamat, Jenis Kelamin)</a:t>
            </a:r>
          </a:p>
        </p:txBody>
      </p:sp>
    </p:spTree>
    <p:extLst>
      <p:ext uri="{BB962C8B-B14F-4D97-AF65-F5344CB8AC3E}">
        <p14:creationId xmlns:p14="http://schemas.microsoft.com/office/powerpoint/2010/main" val="23694967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80">
                                          <p:stCondLst>
                                            <p:cond delay="0"/>
                                          </p:stCondLst>
                                        </p:cTn>
                                        <p:tgtEl>
                                          <p:spTgt spid="3">
                                            <p:txEl>
                                              <p:pRg st="0" end="0"/>
                                            </p:txEl>
                                          </p:spTgt>
                                        </p:tgtEl>
                                      </p:cBhvr>
                                    </p:animEffect>
                                    <p:anim calcmode="lin" valueType="num">
                                      <p:cBhvr>
                                        <p:cTn id="15"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3">
                                            <p:txEl>
                                              <p:pRg st="0" end="0"/>
                                            </p:txEl>
                                          </p:spTgt>
                                        </p:tgtEl>
                                      </p:cBhvr>
                                      <p:to x="100000" y="60000"/>
                                    </p:animScale>
                                    <p:animScale>
                                      <p:cBhvr>
                                        <p:cTn id="21" dur="166" decel="50000">
                                          <p:stCondLst>
                                            <p:cond delay="676"/>
                                          </p:stCondLst>
                                        </p:cTn>
                                        <p:tgtEl>
                                          <p:spTgt spid="3">
                                            <p:txEl>
                                              <p:pRg st="0" end="0"/>
                                            </p:txEl>
                                          </p:spTgt>
                                        </p:tgtEl>
                                      </p:cBhvr>
                                      <p:to x="100000" y="100000"/>
                                    </p:animScale>
                                    <p:animScale>
                                      <p:cBhvr>
                                        <p:cTn id="22" dur="26">
                                          <p:stCondLst>
                                            <p:cond delay="1312"/>
                                          </p:stCondLst>
                                        </p:cTn>
                                        <p:tgtEl>
                                          <p:spTgt spid="3">
                                            <p:txEl>
                                              <p:pRg st="0" end="0"/>
                                            </p:txEl>
                                          </p:spTgt>
                                        </p:tgtEl>
                                      </p:cBhvr>
                                      <p:to x="100000" y="80000"/>
                                    </p:animScale>
                                    <p:animScale>
                                      <p:cBhvr>
                                        <p:cTn id="23" dur="166" decel="50000">
                                          <p:stCondLst>
                                            <p:cond delay="1338"/>
                                          </p:stCondLst>
                                        </p:cTn>
                                        <p:tgtEl>
                                          <p:spTgt spid="3">
                                            <p:txEl>
                                              <p:pRg st="0" end="0"/>
                                            </p:txEl>
                                          </p:spTgt>
                                        </p:tgtEl>
                                      </p:cBhvr>
                                      <p:to x="100000" y="100000"/>
                                    </p:animScale>
                                    <p:animScale>
                                      <p:cBhvr>
                                        <p:cTn id="24" dur="26">
                                          <p:stCondLst>
                                            <p:cond delay="1642"/>
                                          </p:stCondLst>
                                        </p:cTn>
                                        <p:tgtEl>
                                          <p:spTgt spid="3">
                                            <p:txEl>
                                              <p:pRg st="0" end="0"/>
                                            </p:txEl>
                                          </p:spTgt>
                                        </p:tgtEl>
                                      </p:cBhvr>
                                      <p:to x="100000" y="90000"/>
                                    </p:animScale>
                                    <p:animScale>
                                      <p:cBhvr>
                                        <p:cTn id="25" dur="166" decel="50000">
                                          <p:stCondLst>
                                            <p:cond delay="1668"/>
                                          </p:stCondLst>
                                        </p:cTn>
                                        <p:tgtEl>
                                          <p:spTgt spid="3">
                                            <p:txEl>
                                              <p:pRg st="0" end="0"/>
                                            </p:txEl>
                                          </p:spTgt>
                                        </p:tgtEl>
                                      </p:cBhvr>
                                      <p:to x="100000" y="100000"/>
                                    </p:animScale>
                                    <p:animScale>
                                      <p:cBhvr>
                                        <p:cTn id="26" dur="26">
                                          <p:stCondLst>
                                            <p:cond delay="1808"/>
                                          </p:stCondLst>
                                        </p:cTn>
                                        <p:tgtEl>
                                          <p:spTgt spid="3">
                                            <p:txEl>
                                              <p:pRg st="0" end="0"/>
                                            </p:txEl>
                                          </p:spTgt>
                                        </p:tgtEl>
                                      </p:cBhvr>
                                      <p:to x="100000" y="95000"/>
                                    </p:animScale>
                                    <p:animScale>
                                      <p:cBhvr>
                                        <p:cTn id="27" dur="166" decel="50000">
                                          <p:stCondLst>
                                            <p:cond delay="1834"/>
                                          </p:stCondLst>
                                        </p:cTn>
                                        <p:tgtEl>
                                          <p:spTgt spid="3">
                                            <p:txEl>
                                              <p:pRg st="0" end="0"/>
                                            </p:txEl>
                                          </p:spTgt>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grpId="0"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wipe(down)">
                                      <p:cBhvr>
                                        <p:cTn id="32" dur="580">
                                          <p:stCondLst>
                                            <p:cond delay="0"/>
                                          </p:stCondLst>
                                        </p:cTn>
                                        <p:tgtEl>
                                          <p:spTgt spid="3">
                                            <p:txEl>
                                              <p:pRg st="1" end="1"/>
                                            </p:txEl>
                                          </p:spTgt>
                                        </p:tgtEl>
                                      </p:cBhvr>
                                    </p:animEffect>
                                    <p:anim calcmode="lin" valueType="num">
                                      <p:cBhvr>
                                        <p:cTn id="33"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8" dur="26">
                                          <p:stCondLst>
                                            <p:cond delay="650"/>
                                          </p:stCondLst>
                                        </p:cTn>
                                        <p:tgtEl>
                                          <p:spTgt spid="3">
                                            <p:txEl>
                                              <p:pRg st="1" end="1"/>
                                            </p:txEl>
                                          </p:spTgt>
                                        </p:tgtEl>
                                      </p:cBhvr>
                                      <p:to x="100000" y="60000"/>
                                    </p:animScale>
                                    <p:animScale>
                                      <p:cBhvr>
                                        <p:cTn id="39" dur="166" decel="50000">
                                          <p:stCondLst>
                                            <p:cond delay="676"/>
                                          </p:stCondLst>
                                        </p:cTn>
                                        <p:tgtEl>
                                          <p:spTgt spid="3">
                                            <p:txEl>
                                              <p:pRg st="1" end="1"/>
                                            </p:txEl>
                                          </p:spTgt>
                                        </p:tgtEl>
                                      </p:cBhvr>
                                      <p:to x="100000" y="100000"/>
                                    </p:animScale>
                                    <p:animScale>
                                      <p:cBhvr>
                                        <p:cTn id="40" dur="26">
                                          <p:stCondLst>
                                            <p:cond delay="1312"/>
                                          </p:stCondLst>
                                        </p:cTn>
                                        <p:tgtEl>
                                          <p:spTgt spid="3">
                                            <p:txEl>
                                              <p:pRg st="1" end="1"/>
                                            </p:txEl>
                                          </p:spTgt>
                                        </p:tgtEl>
                                      </p:cBhvr>
                                      <p:to x="100000" y="80000"/>
                                    </p:animScale>
                                    <p:animScale>
                                      <p:cBhvr>
                                        <p:cTn id="41" dur="166" decel="50000">
                                          <p:stCondLst>
                                            <p:cond delay="1338"/>
                                          </p:stCondLst>
                                        </p:cTn>
                                        <p:tgtEl>
                                          <p:spTgt spid="3">
                                            <p:txEl>
                                              <p:pRg st="1" end="1"/>
                                            </p:txEl>
                                          </p:spTgt>
                                        </p:tgtEl>
                                      </p:cBhvr>
                                      <p:to x="100000" y="100000"/>
                                    </p:animScale>
                                    <p:animScale>
                                      <p:cBhvr>
                                        <p:cTn id="42" dur="26">
                                          <p:stCondLst>
                                            <p:cond delay="1642"/>
                                          </p:stCondLst>
                                        </p:cTn>
                                        <p:tgtEl>
                                          <p:spTgt spid="3">
                                            <p:txEl>
                                              <p:pRg st="1" end="1"/>
                                            </p:txEl>
                                          </p:spTgt>
                                        </p:tgtEl>
                                      </p:cBhvr>
                                      <p:to x="100000" y="90000"/>
                                    </p:animScale>
                                    <p:animScale>
                                      <p:cBhvr>
                                        <p:cTn id="43" dur="166" decel="50000">
                                          <p:stCondLst>
                                            <p:cond delay="1668"/>
                                          </p:stCondLst>
                                        </p:cTn>
                                        <p:tgtEl>
                                          <p:spTgt spid="3">
                                            <p:txEl>
                                              <p:pRg st="1" end="1"/>
                                            </p:txEl>
                                          </p:spTgt>
                                        </p:tgtEl>
                                      </p:cBhvr>
                                      <p:to x="100000" y="100000"/>
                                    </p:animScale>
                                    <p:animScale>
                                      <p:cBhvr>
                                        <p:cTn id="44" dur="26">
                                          <p:stCondLst>
                                            <p:cond delay="1808"/>
                                          </p:stCondLst>
                                        </p:cTn>
                                        <p:tgtEl>
                                          <p:spTgt spid="3">
                                            <p:txEl>
                                              <p:pRg st="1" end="1"/>
                                            </p:txEl>
                                          </p:spTgt>
                                        </p:tgtEl>
                                      </p:cBhvr>
                                      <p:to x="100000" y="95000"/>
                                    </p:animScale>
                                    <p:animScale>
                                      <p:cBhvr>
                                        <p:cTn id="45" dur="166" decel="50000">
                                          <p:stCondLst>
                                            <p:cond delay="1834"/>
                                          </p:stCondLst>
                                        </p:cTn>
                                        <p:tgtEl>
                                          <p:spTgt spid="3">
                                            <p:txEl>
                                              <p:pRg st="1" end="1"/>
                                            </p:txEl>
                                          </p:spTgt>
                                        </p:tgtEl>
                                      </p:cBhvr>
                                      <p:to x="100000" y="100000"/>
                                    </p:animScale>
                                  </p:childTnLst>
                                </p:cTn>
                              </p:par>
                              <p:par>
                                <p:cTn id="46" presetID="26" presetClass="entr" presetSubtype="0" fill="hold" grpId="0" nodeType="withEffect">
                                  <p:stCondLst>
                                    <p:cond delay="0"/>
                                  </p:stCondLst>
                                  <p:childTnLst>
                                    <p:set>
                                      <p:cBhvr>
                                        <p:cTn id="47" dur="1" fill="hold">
                                          <p:stCondLst>
                                            <p:cond delay="0"/>
                                          </p:stCondLst>
                                        </p:cTn>
                                        <p:tgtEl>
                                          <p:spTgt spid="3">
                                            <p:txEl>
                                              <p:pRg st="2" end="2"/>
                                            </p:txEl>
                                          </p:spTgt>
                                        </p:tgtEl>
                                        <p:attrNameLst>
                                          <p:attrName>style.visibility</p:attrName>
                                        </p:attrNameLst>
                                      </p:cBhvr>
                                      <p:to>
                                        <p:strVal val="visible"/>
                                      </p:to>
                                    </p:set>
                                    <p:animEffect transition="in" filter="wipe(down)">
                                      <p:cBhvr>
                                        <p:cTn id="48" dur="580">
                                          <p:stCondLst>
                                            <p:cond delay="0"/>
                                          </p:stCondLst>
                                        </p:cTn>
                                        <p:tgtEl>
                                          <p:spTgt spid="3">
                                            <p:txEl>
                                              <p:pRg st="2" end="2"/>
                                            </p:txEl>
                                          </p:spTgt>
                                        </p:tgtEl>
                                      </p:cBhvr>
                                    </p:animEffect>
                                    <p:anim calcmode="lin" valueType="num">
                                      <p:cBhvr>
                                        <p:cTn id="49"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50"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51"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52"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53"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54" dur="26">
                                          <p:stCondLst>
                                            <p:cond delay="650"/>
                                          </p:stCondLst>
                                        </p:cTn>
                                        <p:tgtEl>
                                          <p:spTgt spid="3">
                                            <p:txEl>
                                              <p:pRg st="2" end="2"/>
                                            </p:txEl>
                                          </p:spTgt>
                                        </p:tgtEl>
                                      </p:cBhvr>
                                      <p:to x="100000" y="60000"/>
                                    </p:animScale>
                                    <p:animScale>
                                      <p:cBhvr>
                                        <p:cTn id="55" dur="166" decel="50000">
                                          <p:stCondLst>
                                            <p:cond delay="676"/>
                                          </p:stCondLst>
                                        </p:cTn>
                                        <p:tgtEl>
                                          <p:spTgt spid="3">
                                            <p:txEl>
                                              <p:pRg st="2" end="2"/>
                                            </p:txEl>
                                          </p:spTgt>
                                        </p:tgtEl>
                                      </p:cBhvr>
                                      <p:to x="100000" y="100000"/>
                                    </p:animScale>
                                    <p:animScale>
                                      <p:cBhvr>
                                        <p:cTn id="56" dur="26">
                                          <p:stCondLst>
                                            <p:cond delay="1312"/>
                                          </p:stCondLst>
                                        </p:cTn>
                                        <p:tgtEl>
                                          <p:spTgt spid="3">
                                            <p:txEl>
                                              <p:pRg st="2" end="2"/>
                                            </p:txEl>
                                          </p:spTgt>
                                        </p:tgtEl>
                                      </p:cBhvr>
                                      <p:to x="100000" y="80000"/>
                                    </p:animScale>
                                    <p:animScale>
                                      <p:cBhvr>
                                        <p:cTn id="57" dur="166" decel="50000">
                                          <p:stCondLst>
                                            <p:cond delay="1338"/>
                                          </p:stCondLst>
                                        </p:cTn>
                                        <p:tgtEl>
                                          <p:spTgt spid="3">
                                            <p:txEl>
                                              <p:pRg st="2" end="2"/>
                                            </p:txEl>
                                          </p:spTgt>
                                        </p:tgtEl>
                                      </p:cBhvr>
                                      <p:to x="100000" y="100000"/>
                                    </p:animScale>
                                    <p:animScale>
                                      <p:cBhvr>
                                        <p:cTn id="58" dur="26">
                                          <p:stCondLst>
                                            <p:cond delay="1642"/>
                                          </p:stCondLst>
                                        </p:cTn>
                                        <p:tgtEl>
                                          <p:spTgt spid="3">
                                            <p:txEl>
                                              <p:pRg st="2" end="2"/>
                                            </p:txEl>
                                          </p:spTgt>
                                        </p:tgtEl>
                                      </p:cBhvr>
                                      <p:to x="100000" y="90000"/>
                                    </p:animScale>
                                    <p:animScale>
                                      <p:cBhvr>
                                        <p:cTn id="59" dur="166" decel="50000">
                                          <p:stCondLst>
                                            <p:cond delay="1668"/>
                                          </p:stCondLst>
                                        </p:cTn>
                                        <p:tgtEl>
                                          <p:spTgt spid="3">
                                            <p:txEl>
                                              <p:pRg st="2" end="2"/>
                                            </p:txEl>
                                          </p:spTgt>
                                        </p:tgtEl>
                                      </p:cBhvr>
                                      <p:to x="100000" y="100000"/>
                                    </p:animScale>
                                    <p:animScale>
                                      <p:cBhvr>
                                        <p:cTn id="60" dur="26">
                                          <p:stCondLst>
                                            <p:cond delay="1808"/>
                                          </p:stCondLst>
                                        </p:cTn>
                                        <p:tgtEl>
                                          <p:spTgt spid="3">
                                            <p:txEl>
                                              <p:pRg st="2" end="2"/>
                                            </p:txEl>
                                          </p:spTgt>
                                        </p:tgtEl>
                                      </p:cBhvr>
                                      <p:to x="100000" y="95000"/>
                                    </p:animScale>
                                    <p:animScale>
                                      <p:cBhvr>
                                        <p:cTn id="61" dur="166" decel="50000">
                                          <p:stCondLst>
                                            <p:cond delay="1834"/>
                                          </p:stCondLst>
                                        </p:cTn>
                                        <p:tgtEl>
                                          <p:spTgt spid="3">
                                            <p:txEl>
                                              <p:pRg st="2" end="2"/>
                                            </p:txEl>
                                          </p:spTgt>
                                        </p:tgtEl>
                                      </p:cBhvr>
                                      <p:to x="100000" y="100000"/>
                                    </p:animScale>
                                  </p:childTnLst>
                                </p:cTn>
                              </p:par>
                            </p:childTnLst>
                          </p:cTn>
                        </p:par>
                      </p:childTnLst>
                    </p:cTn>
                  </p:par>
                  <p:par>
                    <p:cTn id="62" fill="hold">
                      <p:stCondLst>
                        <p:cond delay="indefinite"/>
                      </p:stCondLst>
                      <p:childTnLst>
                        <p:par>
                          <p:cTn id="63" fill="hold">
                            <p:stCondLst>
                              <p:cond delay="0"/>
                            </p:stCondLst>
                            <p:childTnLst>
                              <p:par>
                                <p:cTn id="64" presetID="26" presetClass="entr" presetSubtype="0" fill="hold" grpId="0" nodeType="clickEffect">
                                  <p:stCondLst>
                                    <p:cond delay="0"/>
                                  </p:stCondLst>
                                  <p:childTnLst>
                                    <p:set>
                                      <p:cBhvr>
                                        <p:cTn id="65" dur="1" fill="hold">
                                          <p:stCondLst>
                                            <p:cond delay="0"/>
                                          </p:stCondLst>
                                        </p:cTn>
                                        <p:tgtEl>
                                          <p:spTgt spid="3">
                                            <p:txEl>
                                              <p:pRg st="3" end="3"/>
                                            </p:txEl>
                                          </p:spTgt>
                                        </p:tgtEl>
                                        <p:attrNameLst>
                                          <p:attrName>style.visibility</p:attrName>
                                        </p:attrNameLst>
                                      </p:cBhvr>
                                      <p:to>
                                        <p:strVal val="visible"/>
                                      </p:to>
                                    </p:set>
                                    <p:animEffect transition="in" filter="wipe(down)">
                                      <p:cBhvr>
                                        <p:cTn id="66" dur="580">
                                          <p:stCondLst>
                                            <p:cond delay="0"/>
                                          </p:stCondLst>
                                        </p:cTn>
                                        <p:tgtEl>
                                          <p:spTgt spid="3">
                                            <p:txEl>
                                              <p:pRg st="3" end="3"/>
                                            </p:txEl>
                                          </p:spTgt>
                                        </p:tgtEl>
                                      </p:cBhvr>
                                    </p:animEffect>
                                    <p:anim calcmode="lin" valueType="num">
                                      <p:cBhvr>
                                        <p:cTn id="67"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8"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9"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70"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71"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72" dur="26">
                                          <p:stCondLst>
                                            <p:cond delay="650"/>
                                          </p:stCondLst>
                                        </p:cTn>
                                        <p:tgtEl>
                                          <p:spTgt spid="3">
                                            <p:txEl>
                                              <p:pRg st="3" end="3"/>
                                            </p:txEl>
                                          </p:spTgt>
                                        </p:tgtEl>
                                      </p:cBhvr>
                                      <p:to x="100000" y="60000"/>
                                    </p:animScale>
                                    <p:animScale>
                                      <p:cBhvr>
                                        <p:cTn id="73" dur="166" decel="50000">
                                          <p:stCondLst>
                                            <p:cond delay="676"/>
                                          </p:stCondLst>
                                        </p:cTn>
                                        <p:tgtEl>
                                          <p:spTgt spid="3">
                                            <p:txEl>
                                              <p:pRg st="3" end="3"/>
                                            </p:txEl>
                                          </p:spTgt>
                                        </p:tgtEl>
                                      </p:cBhvr>
                                      <p:to x="100000" y="100000"/>
                                    </p:animScale>
                                    <p:animScale>
                                      <p:cBhvr>
                                        <p:cTn id="74" dur="26">
                                          <p:stCondLst>
                                            <p:cond delay="1312"/>
                                          </p:stCondLst>
                                        </p:cTn>
                                        <p:tgtEl>
                                          <p:spTgt spid="3">
                                            <p:txEl>
                                              <p:pRg st="3" end="3"/>
                                            </p:txEl>
                                          </p:spTgt>
                                        </p:tgtEl>
                                      </p:cBhvr>
                                      <p:to x="100000" y="80000"/>
                                    </p:animScale>
                                    <p:animScale>
                                      <p:cBhvr>
                                        <p:cTn id="75" dur="166" decel="50000">
                                          <p:stCondLst>
                                            <p:cond delay="1338"/>
                                          </p:stCondLst>
                                        </p:cTn>
                                        <p:tgtEl>
                                          <p:spTgt spid="3">
                                            <p:txEl>
                                              <p:pRg st="3" end="3"/>
                                            </p:txEl>
                                          </p:spTgt>
                                        </p:tgtEl>
                                      </p:cBhvr>
                                      <p:to x="100000" y="100000"/>
                                    </p:animScale>
                                    <p:animScale>
                                      <p:cBhvr>
                                        <p:cTn id="76" dur="26">
                                          <p:stCondLst>
                                            <p:cond delay="1642"/>
                                          </p:stCondLst>
                                        </p:cTn>
                                        <p:tgtEl>
                                          <p:spTgt spid="3">
                                            <p:txEl>
                                              <p:pRg st="3" end="3"/>
                                            </p:txEl>
                                          </p:spTgt>
                                        </p:tgtEl>
                                      </p:cBhvr>
                                      <p:to x="100000" y="90000"/>
                                    </p:animScale>
                                    <p:animScale>
                                      <p:cBhvr>
                                        <p:cTn id="77" dur="166" decel="50000">
                                          <p:stCondLst>
                                            <p:cond delay="1668"/>
                                          </p:stCondLst>
                                        </p:cTn>
                                        <p:tgtEl>
                                          <p:spTgt spid="3">
                                            <p:txEl>
                                              <p:pRg st="3" end="3"/>
                                            </p:txEl>
                                          </p:spTgt>
                                        </p:tgtEl>
                                      </p:cBhvr>
                                      <p:to x="100000" y="100000"/>
                                    </p:animScale>
                                    <p:animScale>
                                      <p:cBhvr>
                                        <p:cTn id="78" dur="26">
                                          <p:stCondLst>
                                            <p:cond delay="1808"/>
                                          </p:stCondLst>
                                        </p:cTn>
                                        <p:tgtEl>
                                          <p:spTgt spid="3">
                                            <p:txEl>
                                              <p:pRg st="3" end="3"/>
                                            </p:txEl>
                                          </p:spTgt>
                                        </p:tgtEl>
                                      </p:cBhvr>
                                      <p:to x="100000" y="95000"/>
                                    </p:animScale>
                                    <p:animScale>
                                      <p:cBhvr>
                                        <p:cTn id="79"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881" y="295835"/>
            <a:ext cx="10583519" cy="645459"/>
          </a:xfrm>
        </p:spPr>
        <p:txBody>
          <a:bodyPr/>
          <a:lstStyle/>
          <a:p>
            <a:r>
              <a:rPr lang="nn-NO" b="1" dirty="0" smtClean="0">
                <a:solidFill>
                  <a:srgbClr val="FFFF00"/>
                </a:solidFill>
              </a:rPr>
              <a:t>Q</a:t>
            </a:r>
            <a:r>
              <a:rPr lang="id-ID" b="1" dirty="0" smtClean="0"/>
              <a:t> </a:t>
            </a:r>
            <a:r>
              <a:rPr lang="nn-NO" b="1" dirty="0" smtClean="0"/>
              <a:t>: </a:t>
            </a:r>
            <a:r>
              <a:rPr lang="nn-NO" b="1" dirty="0"/>
              <a:t>Data apa yang perlu </a:t>
            </a:r>
            <a:r>
              <a:rPr lang="nn-NO" b="1" dirty="0" smtClean="0"/>
              <a:t>disiapkan</a:t>
            </a:r>
            <a:r>
              <a:rPr lang="id-ID" b="1" dirty="0" smtClean="0"/>
              <a:t> </a:t>
            </a:r>
            <a:r>
              <a:rPr lang="nn-NO" b="1" dirty="0" smtClean="0"/>
              <a:t>?</a:t>
            </a:r>
            <a:endParaRPr lang="en-US" b="1" dirty="0"/>
          </a:p>
        </p:txBody>
      </p:sp>
      <p:sp>
        <p:nvSpPr>
          <p:cNvPr id="3" name="Content Placeholder 2"/>
          <p:cNvSpPr>
            <a:spLocks noGrp="1"/>
          </p:cNvSpPr>
          <p:nvPr>
            <p:ph idx="1"/>
          </p:nvPr>
        </p:nvSpPr>
        <p:spPr>
          <a:xfrm>
            <a:off x="838201" y="1825625"/>
            <a:ext cx="9085728" cy="4351338"/>
          </a:xfrm>
        </p:spPr>
        <p:txBody>
          <a:bodyPr>
            <a:normAutofit/>
          </a:bodyPr>
          <a:lstStyle/>
          <a:p>
            <a:r>
              <a:rPr lang="en-US" b="1" dirty="0" smtClean="0"/>
              <a:t>A</a:t>
            </a:r>
            <a:r>
              <a:rPr lang="id-ID" b="1" dirty="0" smtClean="0"/>
              <a:t> </a:t>
            </a:r>
            <a:r>
              <a:rPr lang="en-US" b="1" dirty="0" smtClean="0"/>
              <a:t>: </a:t>
            </a:r>
            <a:endParaRPr lang="id-ID" b="1" dirty="0" smtClean="0"/>
          </a:p>
          <a:p>
            <a:pPr marL="342900" indent="-342900">
              <a:buAutoNum type="arabicPeriod"/>
            </a:pPr>
            <a:r>
              <a:rPr lang="id-ID" b="1" dirty="0" smtClean="0"/>
              <a:t>KTP Almarhum/Almarhumah</a:t>
            </a:r>
          </a:p>
          <a:p>
            <a:pPr marL="342900" indent="-342900">
              <a:buAutoNum type="arabicPeriod"/>
            </a:pPr>
            <a:r>
              <a:rPr lang="id-ID" b="1" dirty="0" smtClean="0"/>
              <a:t>Surat </a:t>
            </a:r>
            <a:r>
              <a:rPr lang="id-ID" b="1" dirty="0"/>
              <a:t>Keterangan Kematian </a:t>
            </a:r>
            <a:r>
              <a:rPr lang="id-ID" b="1" dirty="0" smtClean="0"/>
              <a:t>RT/RW/ Rumah Sakit</a:t>
            </a:r>
          </a:p>
          <a:p>
            <a:pPr marL="342900" indent="-342900">
              <a:buAutoNum type="arabicPeriod"/>
            </a:pPr>
            <a:r>
              <a:rPr lang="id-ID" b="1" dirty="0" smtClean="0"/>
              <a:t>No </a:t>
            </a:r>
            <a:r>
              <a:rPr lang="id-ID" b="1" dirty="0"/>
              <a:t>HP Penanggung Jawab Keluarga</a:t>
            </a:r>
            <a:endParaRPr lang="id-ID" b="1" dirty="0" smtClean="0"/>
          </a:p>
        </p:txBody>
      </p:sp>
    </p:spTree>
    <p:extLst>
      <p:ext uri="{BB962C8B-B14F-4D97-AF65-F5344CB8AC3E}">
        <p14:creationId xmlns:p14="http://schemas.microsoft.com/office/powerpoint/2010/main" val="10883216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881" y="295835"/>
            <a:ext cx="10583519" cy="645459"/>
          </a:xfrm>
        </p:spPr>
        <p:txBody>
          <a:bodyPr/>
          <a:lstStyle/>
          <a:p>
            <a:r>
              <a:rPr lang="nn-NO" b="1" dirty="0" smtClean="0">
                <a:solidFill>
                  <a:srgbClr val="FFFF00"/>
                </a:solidFill>
              </a:rPr>
              <a:t>Q</a:t>
            </a:r>
            <a:r>
              <a:rPr lang="id-ID" b="1" dirty="0" smtClean="0"/>
              <a:t> </a:t>
            </a:r>
            <a:r>
              <a:rPr lang="nn-NO" b="1" dirty="0" smtClean="0"/>
              <a:t>: </a:t>
            </a:r>
            <a:r>
              <a:rPr lang="nn-NO" b="1" dirty="0"/>
              <a:t>Bagaimana Alur </a:t>
            </a:r>
            <a:r>
              <a:rPr lang="nn-NO" b="1" dirty="0" smtClean="0"/>
              <a:t>Prosesnya</a:t>
            </a:r>
            <a:r>
              <a:rPr lang="id-ID" b="1" dirty="0" smtClean="0"/>
              <a:t> </a:t>
            </a:r>
            <a:r>
              <a:rPr lang="nn-NO" b="1" dirty="0" smtClean="0"/>
              <a:t>?</a:t>
            </a:r>
            <a:endParaRPr lang="en-US" b="1" dirty="0"/>
          </a:p>
        </p:txBody>
      </p:sp>
      <p:sp>
        <p:nvSpPr>
          <p:cNvPr id="3" name="Content Placeholder 2"/>
          <p:cNvSpPr>
            <a:spLocks noGrp="1"/>
          </p:cNvSpPr>
          <p:nvPr>
            <p:ph idx="1"/>
          </p:nvPr>
        </p:nvSpPr>
        <p:spPr>
          <a:xfrm>
            <a:off x="838201" y="1825625"/>
            <a:ext cx="9085728" cy="4351338"/>
          </a:xfrm>
        </p:spPr>
        <p:txBody>
          <a:bodyPr>
            <a:normAutofit/>
          </a:bodyPr>
          <a:lstStyle/>
          <a:p>
            <a:r>
              <a:rPr lang="en-US" b="1" dirty="0" smtClean="0">
                <a:solidFill>
                  <a:schemeClr val="accent6">
                    <a:lumMod val="50000"/>
                  </a:schemeClr>
                </a:solidFill>
              </a:rPr>
              <a:t>A</a:t>
            </a:r>
            <a:r>
              <a:rPr lang="id-ID" b="1" dirty="0" smtClean="0">
                <a:solidFill>
                  <a:schemeClr val="accent6">
                    <a:lumMod val="50000"/>
                  </a:schemeClr>
                </a:solidFill>
              </a:rPr>
              <a:t> </a:t>
            </a:r>
            <a:r>
              <a:rPr lang="en-US" b="1" dirty="0" smtClean="0"/>
              <a:t>: </a:t>
            </a:r>
            <a:endParaRPr lang="id-ID" b="1" dirty="0" smtClean="0"/>
          </a:p>
          <a:p>
            <a:pPr marL="342900" indent="-342900">
              <a:buAutoNum type="arabicPeriod"/>
            </a:pPr>
            <a:r>
              <a:rPr lang="id-ID" b="1" dirty="0" smtClean="0"/>
              <a:t>Lapor </a:t>
            </a:r>
            <a:r>
              <a:rPr lang="id-ID" b="1" dirty="0"/>
              <a:t>ke </a:t>
            </a:r>
            <a:r>
              <a:rPr lang="id-ID" b="1" dirty="0" smtClean="0"/>
              <a:t>Relawan/ Petugas Masjid Mutiara Sunnah</a:t>
            </a:r>
          </a:p>
          <a:p>
            <a:pPr marL="342900" indent="-342900">
              <a:buAutoNum type="arabicPeriod"/>
            </a:pPr>
            <a:r>
              <a:rPr lang="id-ID" b="1" dirty="0" smtClean="0"/>
              <a:t>Tim Tiba, Verifikasi dan Koordinasi</a:t>
            </a:r>
          </a:p>
          <a:p>
            <a:pPr marL="342900" indent="-342900">
              <a:buAutoNum type="arabicPeriod"/>
            </a:pPr>
            <a:r>
              <a:rPr lang="id-ID" b="1" dirty="0" smtClean="0"/>
              <a:t>Proses Memandikan, Mengkafani, Men Shalatkan </a:t>
            </a:r>
          </a:p>
          <a:p>
            <a:pPr marL="342900" indent="-342900">
              <a:buAutoNum type="arabicPeriod"/>
            </a:pPr>
            <a:r>
              <a:rPr lang="id-ID" b="1" dirty="0" smtClean="0"/>
              <a:t>Proses Pemakaman</a:t>
            </a:r>
          </a:p>
        </p:txBody>
      </p:sp>
    </p:spTree>
    <p:extLst>
      <p:ext uri="{BB962C8B-B14F-4D97-AF65-F5344CB8AC3E}">
        <p14:creationId xmlns:p14="http://schemas.microsoft.com/office/powerpoint/2010/main" val="10312196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down)">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down)">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down)">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881" y="295835"/>
            <a:ext cx="10583519" cy="645459"/>
          </a:xfrm>
        </p:spPr>
        <p:txBody>
          <a:bodyPr/>
          <a:lstStyle/>
          <a:p>
            <a:r>
              <a:rPr lang="pt-BR" b="1" dirty="0" smtClean="0">
                <a:solidFill>
                  <a:srgbClr val="FFFF00"/>
                </a:solidFill>
              </a:rPr>
              <a:t>Q</a:t>
            </a:r>
            <a:r>
              <a:rPr lang="id-ID" b="1" dirty="0" smtClean="0"/>
              <a:t> </a:t>
            </a:r>
            <a:r>
              <a:rPr lang="pt-BR" b="1" dirty="0" smtClean="0"/>
              <a:t>: </a:t>
            </a:r>
            <a:r>
              <a:rPr lang="pt-BR" b="1" dirty="0"/>
              <a:t>Berapa lama respon </a:t>
            </a:r>
            <a:r>
              <a:rPr lang="pt-BR" b="1" dirty="0" smtClean="0"/>
              <a:t>tim</a:t>
            </a:r>
            <a:r>
              <a:rPr lang="id-ID" b="1" dirty="0" smtClean="0"/>
              <a:t> </a:t>
            </a:r>
            <a:r>
              <a:rPr lang="pt-BR" b="1" dirty="0" smtClean="0"/>
              <a:t>?</a:t>
            </a:r>
            <a:endParaRPr lang="en-US" b="1" dirty="0"/>
          </a:p>
        </p:txBody>
      </p:sp>
      <p:sp>
        <p:nvSpPr>
          <p:cNvPr id="3" name="Content Placeholder 2"/>
          <p:cNvSpPr>
            <a:spLocks noGrp="1"/>
          </p:cNvSpPr>
          <p:nvPr>
            <p:ph idx="1"/>
          </p:nvPr>
        </p:nvSpPr>
        <p:spPr>
          <a:xfrm>
            <a:off x="838201" y="1825625"/>
            <a:ext cx="9085728" cy="4351338"/>
          </a:xfrm>
        </p:spPr>
        <p:txBody>
          <a:bodyPr>
            <a:normAutofit/>
          </a:bodyPr>
          <a:lstStyle/>
          <a:p>
            <a:pPr algn="just"/>
            <a:r>
              <a:rPr lang="en-US" b="1" dirty="0" smtClean="0">
                <a:solidFill>
                  <a:schemeClr val="accent6">
                    <a:lumMod val="50000"/>
                  </a:schemeClr>
                </a:solidFill>
              </a:rPr>
              <a:t>A</a:t>
            </a:r>
            <a:r>
              <a:rPr lang="id-ID" b="1" dirty="0" smtClean="0"/>
              <a:t> </a:t>
            </a:r>
            <a:r>
              <a:rPr lang="en-US" b="1" dirty="0" smtClean="0"/>
              <a:t>: </a:t>
            </a:r>
            <a:r>
              <a:rPr lang="id-ID" b="1" dirty="0" smtClean="0"/>
              <a:t>Tim Relawan siaga dari jam 05.00 sd 21.00 WIB, dan </a:t>
            </a:r>
            <a:r>
              <a:rPr lang="id-ID" b="1" dirty="0"/>
              <a:t>a</a:t>
            </a:r>
            <a:r>
              <a:rPr lang="id-ID" b="1" dirty="0" smtClean="0"/>
              <a:t>kan </a:t>
            </a:r>
            <a:r>
              <a:rPr lang="id-ID" b="1" dirty="0"/>
              <a:t>segera merespon setelah laporan masuk sesuai SOP</a:t>
            </a:r>
            <a:r>
              <a:rPr lang="id-ID" b="1" dirty="0" smtClean="0"/>
              <a:t>.</a:t>
            </a:r>
          </a:p>
          <a:p>
            <a:pPr algn="ctr"/>
            <a:endParaRPr lang="id-ID" b="1" dirty="0" smtClean="0">
              <a:solidFill>
                <a:srgbClr val="7030A0"/>
              </a:solidFill>
            </a:endParaRPr>
          </a:p>
          <a:p>
            <a:pPr algn="ctr"/>
            <a:endParaRPr lang="id-ID" b="1" dirty="0">
              <a:solidFill>
                <a:srgbClr val="7030A0"/>
              </a:solidFill>
            </a:endParaRPr>
          </a:p>
          <a:p>
            <a:pPr algn="ctr"/>
            <a:r>
              <a:rPr lang="id-ID" b="1" dirty="0" smtClean="0">
                <a:solidFill>
                  <a:srgbClr val="7030A0"/>
                </a:solidFill>
              </a:rPr>
              <a:t>HUBUNGI KAMI </a:t>
            </a:r>
            <a:br>
              <a:rPr lang="id-ID" b="1" dirty="0" smtClean="0">
                <a:solidFill>
                  <a:srgbClr val="7030A0"/>
                </a:solidFill>
              </a:rPr>
            </a:br>
            <a:r>
              <a:rPr lang="id-ID" b="1" dirty="0" smtClean="0">
                <a:solidFill>
                  <a:srgbClr val="7030A0"/>
                </a:solidFill>
              </a:rPr>
              <a:t>DKM MASJID MUTUARA SUNNAH - YMSL</a:t>
            </a:r>
          </a:p>
          <a:p>
            <a:pPr algn="just"/>
            <a:endParaRPr lang="id-ID" b="1" dirty="0" smtClean="0"/>
          </a:p>
          <a:p>
            <a:pPr algn="just"/>
            <a:endParaRPr lang="id-ID" b="1" dirty="0"/>
          </a:p>
          <a:p>
            <a:pPr algn="just"/>
            <a:endParaRPr lang="id-ID" b="1" dirty="0" smtClean="0"/>
          </a:p>
        </p:txBody>
      </p:sp>
    </p:spTree>
    <p:extLst>
      <p:ext uri="{BB962C8B-B14F-4D97-AF65-F5344CB8AC3E}">
        <p14:creationId xmlns:p14="http://schemas.microsoft.com/office/powerpoint/2010/main" val="31272272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anim calcmode="lin" valueType="num">
                                      <p:cBhvr>
                                        <p:cTn id="13"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14" dur="2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45"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2000"/>
                                        <p:tgtEl>
                                          <p:spTgt spid="3">
                                            <p:txEl>
                                              <p:pRg st="3" end="3"/>
                                            </p:txEl>
                                          </p:spTgt>
                                        </p:tgtEl>
                                      </p:cBhvr>
                                    </p:animEffect>
                                    <p:anim calcmode="lin" valueType="num">
                                      <p:cBhvr>
                                        <p:cTn id="20" dur="2000" fill="hold"/>
                                        <p:tgtEl>
                                          <p:spTgt spid="3">
                                            <p:txEl>
                                              <p:pRg st="3" end="3"/>
                                            </p:txEl>
                                          </p:spTgt>
                                        </p:tgtEl>
                                        <p:attrNameLst>
                                          <p:attrName>ppt_w</p:attrName>
                                        </p:attrNameLst>
                                      </p:cBhvr>
                                      <p:tavLst>
                                        <p:tav tm="0" fmla="#ppt_w*sin(2.5*pi*$)">
                                          <p:val>
                                            <p:fltVal val="0"/>
                                          </p:val>
                                        </p:tav>
                                        <p:tav tm="100000">
                                          <p:val>
                                            <p:fltVal val="1"/>
                                          </p:val>
                                        </p:tav>
                                      </p:tavLst>
                                    </p:anim>
                                    <p:anim calcmode="lin" valueType="num">
                                      <p:cBhvr>
                                        <p:cTn id="21" dur="2000" fill="hold"/>
                                        <p:tgtEl>
                                          <p:spTgt spid="3">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PowerPoint.potx" id="{43699C43-EC89-4A55-9A99-3FD944590577}" vid="{3C36ED3A-1C33-4ECB-8650-37D568EF4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1584528</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2012-06-20T23:39:00+00:00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TP102923943</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843282</LocLastLocAttemptVersionLookup>
    <IsSearchable xmlns="4873beb7-5857-4685-be1f-d57550cc96cc">true</IsSearchable>
    <TemplateTemplateType xmlns="4873beb7-5857-4685-be1f-d57550cc96cc">PowerPoint Template - Slideshow Launch</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LocMarketGroupTiers2 xmlns="4873beb7-5857-4685-be1f-d57550cc96cc" xsi:nil="true"/>
    <APAuthor xmlns="4873beb7-5857-4685-be1f-d57550cc96cc">
      <UserInfo>
        <DisplayName>REDMOND\v-sa</DisplayName>
        <AccountId>2467</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B970C04F-E7AC-41AB-9C6D-1B1BB88BFF7F}">
  <ds:schemaRefs>
    <ds:schemaRef ds:uri="http://purl.org/dc/terms/"/>
    <ds:schemaRef ds:uri="http://schemas.microsoft.com/office/2006/documentManagement/types"/>
    <ds:schemaRef ds:uri="http://schemas.openxmlformats.org/package/2006/metadata/core-properties"/>
    <ds:schemaRef ds:uri="http://schemas.microsoft.com/office/2006/metadata/properties"/>
    <ds:schemaRef ds:uri="http://purl.org/dc/elements/1.1/"/>
    <ds:schemaRef ds:uri="http://schemas.microsoft.com/office/infopath/2007/PartnerControls"/>
    <ds:schemaRef ds:uri="4873beb7-5857-4685-be1f-d57550cc96cc"/>
    <ds:schemaRef ds:uri="http://www.w3.org/XML/1998/namespace"/>
    <ds:schemaRef ds:uri="http://purl.org/dc/dcmitype/"/>
  </ds:schemaRefs>
</ds:datastoreItem>
</file>

<file path=customXml/itemProps2.xml><?xml version="1.0" encoding="utf-8"?>
<ds:datastoreItem xmlns:ds="http://schemas.openxmlformats.org/officeDocument/2006/customXml" ds:itemID="{63EE7759-C66F-4EA4-9863-7EBA32518D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3DEC53A-9DF1-4780-BE92-17E971B7A9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Welcome to PowerPoint 2013</Template>
  <TotalTime>93</TotalTime>
  <Words>263</Words>
  <Application>Microsoft Office PowerPoint</Application>
  <PresentationFormat>Widescreen</PresentationFormat>
  <Paragraphs>38</Paragraphs>
  <Slides>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Bradley Hand ITC</vt:lpstr>
      <vt:lpstr>Calibri</vt:lpstr>
      <vt:lpstr>Segoe UI</vt:lpstr>
      <vt:lpstr>Segoe UI Light</vt:lpstr>
      <vt:lpstr>WelcomeDoc</vt:lpstr>
      <vt:lpstr>KERJA SAMA PENGURUSAN JENAZAH  antara  DKM MASJID MUTIARA SUNNAH (Yayasan Mutiara Sunnah Legenda)  &amp;  DKM MASJID JAMI AL BARKAH (Yayasana Cahaya Sunnah) </vt:lpstr>
      <vt:lpstr>Q : Apa itu PKS Pengurusan Jenazah YMSL &amp; YCS ?</vt:lpstr>
      <vt:lpstr>Q : Layanan apa saja yang diberikan ?</vt:lpstr>
      <vt:lpstr>Q : Apakah ada biaya ?</vt:lpstr>
      <vt:lpstr>Q : Langkah pertama jika ada warga meninggal ?</vt:lpstr>
      <vt:lpstr>Q : Data apa yang perlu disiapkan ?</vt:lpstr>
      <vt:lpstr>Q : Bagaimana Alur Prosesnya ?</vt:lpstr>
      <vt:lpstr>Q : Berapa lama respon tim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KERJA SAMA PENGURUSAN JENAZAH  antara  DKM MASJID MUTIARA SUNNAH (Yayasan Mutiara Sunnah Legenda)  &amp;  DKM MASJID JAMI AL BARKAH (Yayasana Cahaya Sunnah)</dc:title>
  <dc:creator>611581</dc:creator>
  <cp:keywords/>
  <cp:lastModifiedBy>611581</cp:lastModifiedBy>
  <cp:revision>14</cp:revision>
  <dcterms:created xsi:type="dcterms:W3CDTF">2026-07-27T03:19:32Z</dcterms:created>
  <dcterms:modified xsi:type="dcterms:W3CDTF">2026-08-03T03:57:15Z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_TemplateID">
    <vt:lpwstr>TC029239449991</vt:lpwstr>
  </property>
  <property fmtid="{D5CDD505-2E9C-101B-9397-08002B2CF9AE}" pid="4" name="ContentTypeId">
    <vt:lpwstr>0x0101006EDDDB5EE6D98C44930B742096920B300400F5B6D36B3EF94B4E9A635CDF2A18F5B8</vt:lpwstr>
  </property>
  <property fmtid="{D5CDD505-2E9C-101B-9397-08002B2CF9AE}" pid="5" name="FeatureTags">
    <vt:lpwstr/>
  </property>
  <property fmtid="{D5CDD505-2E9C-101B-9397-08002B2CF9AE}" pid="6" name="LocalizationTags">
    <vt:lpwstr/>
  </property>
  <property fmtid="{D5CDD505-2E9C-101B-9397-08002B2CF9AE}" pid="7" name="ScenarioTags">
    <vt:lpwstr/>
  </property>
  <property fmtid="{D5CDD505-2E9C-101B-9397-08002B2CF9AE}" pid="8" name="CampaignTags">
    <vt:lpwstr/>
  </property>
</Properties>
</file>